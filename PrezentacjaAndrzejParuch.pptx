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sldIdLst>
    <p:sldId id="256" r:id="rId2"/>
    <p:sldId id="257" r:id="rId3"/>
    <p:sldId id="258" r:id="rId4"/>
    <p:sldId id="259" r:id="rId5"/>
    <p:sldId id="260" r:id="rId6"/>
    <p:sldId id="270" r:id="rId7"/>
    <p:sldId id="272" r:id="rId8"/>
    <p:sldId id="273" r:id="rId9"/>
    <p:sldId id="269" r:id="rId10"/>
    <p:sldId id="263" r:id="rId11"/>
    <p:sldId id="261" r:id="rId12"/>
    <p:sldId id="262" r:id="rId13"/>
    <p:sldId id="264" r:id="rId14"/>
    <p:sldId id="265" r:id="rId15"/>
    <p:sldId id="266" r:id="rId16"/>
    <p:sldId id="267" r:id="rId17"/>
    <p:sldId id="26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pl-PL"/>
              <a:t>Kliknij, aby edytować styl</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l-PL"/>
              <a:t>Kliknij, aby edytować styl wzorca podtytułu</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CBBFB598-B412-4BAA-8D00-58612E105D61}" type="datetimeFigureOut">
              <a:rPr lang="pl-PL" smtClean="0"/>
              <a:t>7.12.2025</a:t>
            </a:fld>
            <a:endParaRPr lang="pl-PL"/>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pl-PL"/>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5533C443-48B8-4D1F-B151-33629DF77D65}" type="slidenum">
              <a:rPr lang="pl-PL" smtClean="0"/>
              <a:t>‹#›</a:t>
            </a:fld>
            <a:endParaRPr lang="pl-PL"/>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078967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CBBFB598-B412-4BAA-8D00-58612E105D61}" type="datetimeFigureOut">
              <a:rPr lang="pl-PL" smtClean="0"/>
              <a:t>7.12.2025</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5533C443-48B8-4D1F-B151-33629DF77D65}" type="slidenum">
              <a:rPr lang="pl-PL" smtClean="0"/>
              <a:t>‹#›</a:t>
            </a:fld>
            <a:endParaRPr lang="pl-PL"/>
          </a:p>
        </p:txBody>
      </p:sp>
    </p:spTree>
    <p:extLst>
      <p:ext uri="{BB962C8B-B14F-4D97-AF65-F5344CB8AC3E}">
        <p14:creationId xmlns:p14="http://schemas.microsoft.com/office/powerpoint/2010/main" val="3879483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pl-PL"/>
              <a:t>Kliknij, aby edytować styl</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CBBFB598-B412-4BAA-8D00-58612E105D61}" type="datetimeFigureOut">
              <a:rPr lang="pl-PL" smtClean="0"/>
              <a:t>7.12.2025</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5533C443-48B8-4D1F-B151-33629DF77D65}" type="slidenum">
              <a:rPr lang="pl-PL" smtClean="0"/>
              <a:t>‹#›</a:t>
            </a:fld>
            <a:endParaRPr lang="pl-PL"/>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19826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4"/>
          <p:cNvSpPr>
            <a:spLocks noGrp="1"/>
          </p:cNvSpPr>
          <p:nvPr>
            <p:ph type="dt" sz="half" idx="10"/>
          </p:nvPr>
        </p:nvSpPr>
        <p:spPr/>
        <p:txBody>
          <a:bodyPr/>
          <a:lstStyle/>
          <a:p>
            <a:fld id="{CBBFB598-B412-4BAA-8D00-58612E105D61}" type="datetimeFigureOut">
              <a:rPr lang="pl-PL" smtClean="0"/>
              <a:t>7.12.2025</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5533C443-48B8-4D1F-B151-33629DF77D65}" type="slidenum">
              <a:rPr lang="pl-PL" smtClean="0"/>
              <a:t>‹#›</a:t>
            </a:fld>
            <a:endParaRPr lang="pl-PL"/>
          </a:p>
        </p:txBody>
      </p:sp>
    </p:spTree>
    <p:extLst>
      <p:ext uri="{BB962C8B-B14F-4D97-AF65-F5344CB8AC3E}">
        <p14:creationId xmlns:p14="http://schemas.microsoft.com/office/powerpoint/2010/main" val="3908520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l-PL"/>
              <a:t>Kliknij, aby edytować styl</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pl-PL"/>
              <a:t>Kliknij, aby edytować style wzorca tekstu</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CBBFB598-B412-4BAA-8D00-58612E105D61}" type="datetimeFigureOut">
              <a:rPr lang="pl-PL" smtClean="0"/>
              <a:t>7.12.2025</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5533C443-48B8-4D1F-B151-33629DF77D65}" type="slidenum">
              <a:rPr lang="pl-PL" smtClean="0"/>
              <a:t>‹#›</a:t>
            </a:fld>
            <a:endParaRPr lang="pl-PL"/>
          </a:p>
        </p:txBody>
      </p:sp>
    </p:spTree>
    <p:extLst>
      <p:ext uri="{BB962C8B-B14F-4D97-AF65-F5344CB8AC3E}">
        <p14:creationId xmlns:p14="http://schemas.microsoft.com/office/powerpoint/2010/main" val="320634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pl-PL"/>
              <a:t>Kliknij, aby edytować styl</a:t>
            </a:r>
            <a:endParaRPr lang="en-US" dirty="0"/>
          </a:p>
        </p:txBody>
      </p:sp>
      <p:sp>
        <p:nvSpPr>
          <p:cNvPr id="3" name="Date Placeholder 2"/>
          <p:cNvSpPr>
            <a:spLocks noGrp="1"/>
          </p:cNvSpPr>
          <p:nvPr>
            <p:ph type="dt" sz="half" idx="10"/>
          </p:nvPr>
        </p:nvSpPr>
        <p:spPr/>
        <p:txBody>
          <a:bodyPr/>
          <a:lstStyle/>
          <a:p>
            <a:fld id="{CBBFB598-B412-4BAA-8D00-58612E105D61}" type="datetimeFigureOut">
              <a:rPr lang="pl-PL" smtClean="0"/>
              <a:t>7.12.2025</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5533C443-48B8-4D1F-B151-33629DF77D65}" type="slidenum">
              <a:rPr lang="pl-PL" smtClean="0"/>
              <a:t>‹#›</a:t>
            </a:fld>
            <a:endParaRPr lang="pl-PL"/>
          </a:p>
        </p:txBody>
      </p:sp>
    </p:spTree>
    <p:extLst>
      <p:ext uri="{BB962C8B-B14F-4D97-AF65-F5344CB8AC3E}">
        <p14:creationId xmlns:p14="http://schemas.microsoft.com/office/powerpoint/2010/main" val="4199091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BFB598-B412-4BAA-8D00-58612E105D61}" type="datetimeFigureOut">
              <a:rPr lang="pl-PL" smtClean="0"/>
              <a:t>7.12.2025</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5533C443-48B8-4D1F-B151-33629DF77D65}" type="slidenum">
              <a:rPr lang="pl-PL" smtClean="0"/>
              <a:t>‹#›</a:t>
            </a:fld>
            <a:endParaRPr lang="pl-PL"/>
          </a:p>
        </p:txBody>
      </p:sp>
    </p:spTree>
    <p:extLst>
      <p:ext uri="{BB962C8B-B14F-4D97-AF65-F5344CB8AC3E}">
        <p14:creationId xmlns:p14="http://schemas.microsoft.com/office/powerpoint/2010/main" val="3501899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pl-PL"/>
              <a:t>Kliknij, aby edytować styl</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CBBFB598-B412-4BAA-8D00-58612E105D61}" type="datetimeFigureOut">
              <a:rPr lang="pl-PL" smtClean="0"/>
              <a:t>7.12.2025</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5533C443-48B8-4D1F-B151-33629DF77D65}" type="slidenum">
              <a:rPr lang="pl-PL" smtClean="0"/>
              <a:t>‹#›</a:t>
            </a:fld>
            <a:endParaRPr lang="pl-PL"/>
          </a:p>
        </p:txBody>
      </p:sp>
    </p:spTree>
    <p:extLst>
      <p:ext uri="{BB962C8B-B14F-4D97-AF65-F5344CB8AC3E}">
        <p14:creationId xmlns:p14="http://schemas.microsoft.com/office/powerpoint/2010/main" val="2060871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pl-PL"/>
              <a:t>Kliknij, aby edytować styl</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l-PL"/>
              <a:t>Kliknij ikonę, aby dodać obraz</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CBBFB598-B412-4BAA-8D00-58612E105D61}" type="datetimeFigureOut">
              <a:rPr lang="pl-PL" smtClean="0"/>
              <a:t>7.12.2025</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5533C443-48B8-4D1F-B151-33629DF77D65}" type="slidenum">
              <a:rPr lang="pl-PL" smtClean="0"/>
              <a:t>‹#›</a:t>
            </a:fld>
            <a:endParaRPr lang="pl-PL"/>
          </a:p>
        </p:txBody>
      </p:sp>
    </p:spTree>
    <p:extLst>
      <p:ext uri="{BB962C8B-B14F-4D97-AF65-F5344CB8AC3E}">
        <p14:creationId xmlns:p14="http://schemas.microsoft.com/office/powerpoint/2010/main" val="998290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CBBFB598-B412-4BAA-8D00-58612E105D61}" type="datetimeFigureOut">
              <a:rPr lang="pl-PL" smtClean="0"/>
              <a:t>7.12.2025</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5533C443-48B8-4D1F-B151-33629DF77D65}" type="slidenum">
              <a:rPr lang="pl-PL" smtClean="0"/>
              <a:t>‹#›</a:t>
            </a:fld>
            <a:endParaRPr lang="pl-PL"/>
          </a:p>
        </p:txBody>
      </p:sp>
    </p:spTree>
    <p:extLst>
      <p:ext uri="{BB962C8B-B14F-4D97-AF65-F5344CB8AC3E}">
        <p14:creationId xmlns:p14="http://schemas.microsoft.com/office/powerpoint/2010/main" val="33729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pl-PL"/>
              <a:t>Kliknij, aby edytować styl</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CBBFB598-B412-4BAA-8D00-58612E105D61}" type="datetimeFigureOut">
              <a:rPr lang="pl-PL" smtClean="0"/>
              <a:t>7.12.2025</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5533C443-48B8-4D1F-B151-33629DF77D65}" type="slidenum">
              <a:rPr lang="pl-PL" smtClean="0"/>
              <a:t>‹#›</a:t>
            </a:fld>
            <a:endParaRPr lang="pl-PL"/>
          </a:p>
        </p:txBody>
      </p:sp>
    </p:spTree>
    <p:extLst>
      <p:ext uri="{BB962C8B-B14F-4D97-AF65-F5344CB8AC3E}">
        <p14:creationId xmlns:p14="http://schemas.microsoft.com/office/powerpoint/2010/main" val="4027542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pl-PL"/>
              <a:t>Kliknij, aby edytować styl</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CBBFB598-B412-4BAA-8D00-58612E105D61}" type="datetimeFigureOut">
              <a:rPr lang="pl-PL" smtClean="0"/>
              <a:t>7.12.2025</a:t>
            </a:fld>
            <a:endParaRPr lang="pl-PL"/>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pl-PL"/>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5533C443-48B8-4D1F-B151-33629DF77D65}" type="slidenum">
              <a:rPr lang="pl-PL" smtClean="0"/>
              <a:t>‹#›</a:t>
            </a:fld>
            <a:endParaRPr lang="pl-PL"/>
          </a:p>
        </p:txBody>
      </p:sp>
    </p:spTree>
    <p:extLst>
      <p:ext uri="{BB962C8B-B14F-4D97-AF65-F5344CB8AC3E}">
        <p14:creationId xmlns:p14="http://schemas.microsoft.com/office/powerpoint/2010/main" val="3315688535"/>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CA40538-3C91-0285-6403-008E9845EB39}"/>
              </a:ext>
            </a:extLst>
          </p:cNvPr>
          <p:cNvSpPr>
            <a:spLocks noGrp="1"/>
          </p:cNvSpPr>
          <p:nvPr>
            <p:ph type="ctrTitle"/>
          </p:nvPr>
        </p:nvSpPr>
        <p:spPr>
          <a:xfrm>
            <a:off x="484094" y="609601"/>
            <a:ext cx="11474823" cy="2250140"/>
          </a:xfrm>
        </p:spPr>
        <p:txBody>
          <a:bodyPr>
            <a:normAutofit/>
          </a:bodyPr>
          <a:lstStyle/>
          <a:p>
            <a:pPr algn="just"/>
            <a:r>
              <a:rPr lang="pl-PL" sz="3600" dirty="0"/>
              <a:t>System dekoracji wnętrz z wykorzystaniem technologii wirtualnej rzeczywistości (VR)</a:t>
            </a:r>
          </a:p>
        </p:txBody>
      </p:sp>
      <p:sp>
        <p:nvSpPr>
          <p:cNvPr id="3" name="Podtytuł 2">
            <a:extLst>
              <a:ext uri="{FF2B5EF4-FFF2-40B4-BE49-F238E27FC236}">
                <a16:creationId xmlns:a16="http://schemas.microsoft.com/office/drawing/2014/main" id="{1E745161-37A2-B311-6EF3-6BEF01FEB9C1}"/>
              </a:ext>
            </a:extLst>
          </p:cNvPr>
          <p:cNvSpPr>
            <a:spLocks noGrp="1"/>
          </p:cNvSpPr>
          <p:nvPr>
            <p:ph type="subTitle" idx="1"/>
          </p:nvPr>
        </p:nvSpPr>
        <p:spPr>
          <a:xfrm>
            <a:off x="1751011" y="4401670"/>
            <a:ext cx="10207905" cy="1389529"/>
          </a:xfrm>
        </p:spPr>
        <p:txBody>
          <a:bodyPr>
            <a:normAutofit lnSpcReduction="10000"/>
          </a:bodyPr>
          <a:lstStyle/>
          <a:p>
            <a:pPr algn="r"/>
            <a:r>
              <a:rPr lang="pl-PL" dirty="0"/>
              <a:t>Autor: Andrzej </a:t>
            </a:r>
            <a:r>
              <a:rPr lang="pl-PL" dirty="0" err="1"/>
              <a:t>Paruch</a:t>
            </a:r>
            <a:endParaRPr lang="pl-PL" dirty="0"/>
          </a:p>
          <a:p>
            <a:pPr algn="r"/>
            <a:r>
              <a:rPr lang="pl-PL" dirty="0"/>
              <a:t>Nr indeksu: 136606</a:t>
            </a:r>
          </a:p>
          <a:p>
            <a:pPr algn="r"/>
            <a:r>
              <a:rPr lang="pl-PL" dirty="0"/>
              <a:t>Promotor: </a:t>
            </a:r>
            <a:r>
              <a:rPr lang="de-DE" dirty="0" err="1"/>
              <a:t>dr</a:t>
            </a:r>
            <a:r>
              <a:rPr lang="de-DE" dirty="0"/>
              <a:t> hab. </a:t>
            </a:r>
            <a:r>
              <a:rPr lang="de-DE" dirty="0" err="1"/>
              <a:t>inż</a:t>
            </a:r>
            <a:r>
              <a:rPr lang="de-DE" dirty="0"/>
              <a:t>.</a:t>
            </a:r>
            <a:r>
              <a:rPr lang="pl-PL" dirty="0"/>
              <a:t> Krystian Łapa</a:t>
            </a:r>
          </a:p>
        </p:txBody>
      </p:sp>
    </p:spTree>
    <p:extLst>
      <p:ext uri="{BB962C8B-B14F-4D97-AF65-F5344CB8AC3E}">
        <p14:creationId xmlns:p14="http://schemas.microsoft.com/office/powerpoint/2010/main" val="1734390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35D3C0E-076B-3A57-7825-4D74952B4D8C}"/>
              </a:ext>
            </a:extLst>
          </p:cNvPr>
          <p:cNvSpPr>
            <a:spLocks noGrp="1"/>
          </p:cNvSpPr>
          <p:nvPr>
            <p:ph type="title"/>
          </p:nvPr>
        </p:nvSpPr>
        <p:spPr>
          <a:xfrm>
            <a:off x="143435" y="367554"/>
            <a:ext cx="11905130" cy="995082"/>
          </a:xfrm>
        </p:spPr>
        <p:txBody>
          <a:bodyPr/>
          <a:lstStyle/>
          <a:p>
            <a:r>
              <a:rPr lang="pl-PL" dirty="0"/>
              <a:t>Wstęp – Dekoracja Wnętrz</a:t>
            </a:r>
          </a:p>
        </p:txBody>
      </p:sp>
      <p:sp>
        <p:nvSpPr>
          <p:cNvPr id="3" name="Symbol zastępczy zawartości 2">
            <a:extLst>
              <a:ext uri="{FF2B5EF4-FFF2-40B4-BE49-F238E27FC236}">
                <a16:creationId xmlns:a16="http://schemas.microsoft.com/office/drawing/2014/main" id="{C1C283A6-727F-B5EB-5A2D-06AD50C05DEC}"/>
              </a:ext>
            </a:extLst>
          </p:cNvPr>
          <p:cNvSpPr>
            <a:spLocks noGrp="1"/>
          </p:cNvSpPr>
          <p:nvPr>
            <p:ph idx="1"/>
          </p:nvPr>
        </p:nvSpPr>
        <p:spPr>
          <a:xfrm>
            <a:off x="143435" y="1362637"/>
            <a:ext cx="11134166" cy="5307104"/>
          </a:xfrm>
        </p:spPr>
        <p:txBody>
          <a:bodyPr/>
          <a:lstStyle/>
          <a:p>
            <a:pPr marL="0" indent="0" algn="just">
              <a:buNone/>
            </a:pPr>
            <a:r>
              <a:rPr lang="pl-PL" sz="1400" dirty="0"/>
              <a:t>Program do projektowania wnętrz to narzędzie do wizualizacji i aranżacji pomieszczeń w 3D i 2D. Za pomocą takich aplikacji można zaplanować układ pomieszczenia, mebli, czy ścian. Są bardzo pomocne przy planowaniu remontów, czy budowy domu. Ich wielką zaletą jest dokładność i precyzja wizualizacji, która pozwala na dokładne odwzorowanie rzeczywistości. Oferują dużą funkcjonalność i sporą bazę gotowych rozwiązań, aczkolwiek przez to ich obsługa jest skomplikowana i wymagająca wielogodzinnej nauki. </a:t>
            </a:r>
          </a:p>
          <a:p>
            <a:pPr marL="0" indent="0" algn="just">
              <a:buNone/>
            </a:pPr>
            <a:r>
              <a:rPr lang="pl-PL" sz="1400" dirty="0"/>
              <a:t>Porównanie programów do projektowania wnętrz:</a:t>
            </a:r>
          </a:p>
          <a:p>
            <a:pPr marL="0" indent="0" algn="just">
              <a:buNone/>
            </a:pPr>
            <a:endParaRPr lang="pl-PL" sz="1400"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graphicFrame>
        <p:nvGraphicFramePr>
          <p:cNvPr id="4" name="Tabela 3">
            <a:extLst>
              <a:ext uri="{FF2B5EF4-FFF2-40B4-BE49-F238E27FC236}">
                <a16:creationId xmlns:a16="http://schemas.microsoft.com/office/drawing/2014/main" id="{95B1D090-ACAB-9825-85C3-B534E9DAFD9B}"/>
              </a:ext>
            </a:extLst>
          </p:cNvPr>
          <p:cNvGraphicFramePr>
            <a:graphicFrameLocks noGrp="1"/>
          </p:cNvGraphicFramePr>
          <p:nvPr>
            <p:extLst>
              <p:ext uri="{D42A27DB-BD31-4B8C-83A1-F6EECF244321}">
                <p14:modId xmlns:p14="http://schemas.microsoft.com/office/powerpoint/2010/main" val="494299078"/>
              </p:ext>
            </p:extLst>
          </p:nvPr>
        </p:nvGraphicFramePr>
        <p:xfrm>
          <a:off x="143433" y="2902751"/>
          <a:ext cx="11134168" cy="3835210"/>
        </p:xfrm>
        <a:graphic>
          <a:graphicData uri="http://schemas.openxmlformats.org/drawingml/2006/table">
            <a:tbl>
              <a:tblPr firstRow="1" firstCol="1" bandRow="1">
                <a:tableStyleId>{5C22544A-7EE6-4342-B048-85BDC9FD1C3A}</a:tableStyleId>
              </a:tblPr>
              <a:tblGrid>
                <a:gridCol w="2225840">
                  <a:extLst>
                    <a:ext uri="{9D8B030D-6E8A-4147-A177-3AD203B41FA5}">
                      <a16:colId xmlns:a16="http://schemas.microsoft.com/office/drawing/2014/main" val="121564756"/>
                    </a:ext>
                  </a:extLst>
                </a:gridCol>
                <a:gridCol w="2227082">
                  <a:extLst>
                    <a:ext uri="{9D8B030D-6E8A-4147-A177-3AD203B41FA5}">
                      <a16:colId xmlns:a16="http://schemas.microsoft.com/office/drawing/2014/main" val="1898770979"/>
                    </a:ext>
                  </a:extLst>
                </a:gridCol>
                <a:gridCol w="2227082">
                  <a:extLst>
                    <a:ext uri="{9D8B030D-6E8A-4147-A177-3AD203B41FA5}">
                      <a16:colId xmlns:a16="http://schemas.microsoft.com/office/drawing/2014/main" val="467455197"/>
                    </a:ext>
                  </a:extLst>
                </a:gridCol>
                <a:gridCol w="2227082">
                  <a:extLst>
                    <a:ext uri="{9D8B030D-6E8A-4147-A177-3AD203B41FA5}">
                      <a16:colId xmlns:a16="http://schemas.microsoft.com/office/drawing/2014/main" val="2165750682"/>
                    </a:ext>
                  </a:extLst>
                </a:gridCol>
                <a:gridCol w="2227082">
                  <a:extLst>
                    <a:ext uri="{9D8B030D-6E8A-4147-A177-3AD203B41FA5}">
                      <a16:colId xmlns:a16="http://schemas.microsoft.com/office/drawing/2014/main" val="4036706159"/>
                    </a:ext>
                  </a:extLst>
                </a:gridCol>
              </a:tblGrid>
              <a:tr h="150641">
                <a:tc>
                  <a:txBody>
                    <a:bodyPr/>
                    <a:lstStyle/>
                    <a:p>
                      <a:pPr algn="l">
                        <a:lnSpc>
                          <a:spcPct val="150000"/>
                        </a:lnSpc>
                        <a:buNone/>
                      </a:pPr>
                      <a:r>
                        <a:rPr lang="pl-PL" sz="1100">
                          <a:effectLst/>
                        </a:rPr>
                        <a:t>Nazwa</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a:effectLst/>
                        </a:rPr>
                        <a:t>Forma płatności</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Cena</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a:effectLst/>
                        </a:rPr>
                        <a:t>Forma Wizualizacji</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a:effectLst/>
                        </a:rPr>
                        <a:t>Oferowane Usługi</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extLst>
                  <a:ext uri="{0D108BD9-81ED-4DB2-BD59-A6C34878D82A}">
                    <a16:rowId xmlns:a16="http://schemas.microsoft.com/office/drawing/2014/main" val="3723430035"/>
                  </a:ext>
                </a:extLst>
              </a:tr>
              <a:tr h="494721">
                <a:tc>
                  <a:txBody>
                    <a:bodyPr/>
                    <a:lstStyle/>
                    <a:p>
                      <a:pPr algn="l">
                        <a:lnSpc>
                          <a:spcPct val="150000"/>
                        </a:lnSpc>
                        <a:buNone/>
                      </a:pPr>
                      <a:r>
                        <a:rPr lang="pl-PL" sz="1100">
                          <a:effectLst/>
                        </a:rPr>
                        <a:t>Homestyler</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a:effectLst/>
                        </a:rPr>
                        <a:t>Abonament</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Darmowy/$19.6</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2D/3D/VR</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a:effectLst/>
                        </a:rPr>
                        <a:t>Duża baza mebli, Konwertowanie planow 2D na 3D, Prezentacja VR, Moduł AI</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extLst>
                  <a:ext uri="{0D108BD9-81ED-4DB2-BD59-A6C34878D82A}">
                    <a16:rowId xmlns:a16="http://schemas.microsoft.com/office/drawing/2014/main" val="2098198958"/>
                  </a:ext>
                </a:extLst>
              </a:tr>
              <a:tr h="494721">
                <a:tc>
                  <a:txBody>
                    <a:bodyPr/>
                    <a:lstStyle/>
                    <a:p>
                      <a:pPr algn="l">
                        <a:lnSpc>
                          <a:spcPct val="150000"/>
                        </a:lnSpc>
                        <a:buNone/>
                      </a:pPr>
                      <a:r>
                        <a:rPr lang="pl-PL" sz="1100" dirty="0" err="1">
                          <a:effectLst/>
                        </a:rPr>
                        <a:t>Sweet</a:t>
                      </a:r>
                      <a:r>
                        <a:rPr lang="pl-PL" sz="1100" dirty="0">
                          <a:effectLst/>
                        </a:rPr>
                        <a:t> Home 3D</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Darmowy</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2D/3D</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a:effectLst/>
                        </a:rPr>
                        <a:t>Spora biblioteka mebli, możliwość tworzenia własnych wtyczek</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extLst>
                  <a:ext uri="{0D108BD9-81ED-4DB2-BD59-A6C34878D82A}">
                    <a16:rowId xmlns:a16="http://schemas.microsoft.com/office/drawing/2014/main" val="1369130517"/>
                  </a:ext>
                </a:extLst>
              </a:tr>
              <a:tr h="666783">
                <a:tc>
                  <a:txBody>
                    <a:bodyPr/>
                    <a:lstStyle/>
                    <a:p>
                      <a:pPr algn="l">
                        <a:lnSpc>
                          <a:spcPct val="150000"/>
                        </a:lnSpc>
                        <a:buNone/>
                      </a:pPr>
                      <a:r>
                        <a:rPr lang="pl-PL" sz="1100">
                          <a:effectLst/>
                        </a:rPr>
                        <a:t>Sketch Up</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Zakup licencji na rok</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1 786,73 zł-5 136 zł</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2D/3D</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a:effectLst/>
                        </a:rPr>
                        <a:t>Baza gotowych modeli, Tworzenie modeli w oparciu o zdjęcia, Baza wtyczek do programu</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extLst>
                  <a:ext uri="{0D108BD9-81ED-4DB2-BD59-A6C34878D82A}">
                    <a16:rowId xmlns:a16="http://schemas.microsoft.com/office/drawing/2014/main" val="3768092719"/>
                  </a:ext>
                </a:extLst>
              </a:tr>
              <a:tr h="541402">
                <a:tc>
                  <a:txBody>
                    <a:bodyPr/>
                    <a:lstStyle/>
                    <a:p>
                      <a:pPr algn="l">
                        <a:lnSpc>
                          <a:spcPct val="150000"/>
                        </a:lnSpc>
                        <a:buNone/>
                      </a:pPr>
                      <a:r>
                        <a:rPr lang="pl-PL" sz="1100">
                          <a:effectLst/>
                        </a:rPr>
                        <a:t>Live Home 3D</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a:effectLst/>
                        </a:rPr>
                        <a:t>Zakup Jednorazowy</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Darmowy/$99.99</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latin typeface="Arial" panose="020B0604020202020204" pitchFamily="34" charset="0"/>
                          <a:ea typeface="Calibri" panose="020F0502020204030204" pitchFamily="34" charset="0"/>
                          <a:cs typeface="Times New Roman" panose="02020603050405020304" pitchFamily="18" charset="0"/>
                        </a:rPr>
                        <a:t>2D/3D</a:t>
                      </a:r>
                    </a:p>
                  </a:txBody>
                  <a:tcPr marL="25291" marR="25291" marT="0" marB="0"/>
                </a:tc>
                <a:tc>
                  <a:txBody>
                    <a:bodyPr/>
                    <a:lstStyle/>
                    <a:p>
                      <a:pPr algn="l">
                        <a:lnSpc>
                          <a:spcPct val="150000"/>
                        </a:lnSpc>
                        <a:buNone/>
                      </a:pPr>
                      <a:r>
                        <a:rPr lang="pl-PL" sz="1100">
                          <a:effectLst/>
                        </a:rPr>
                        <a:t>Baza gotowych modeli, importowanie własnych modeli, Dostępne na urządzenia mobilne</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extLst>
                  <a:ext uri="{0D108BD9-81ED-4DB2-BD59-A6C34878D82A}">
                    <a16:rowId xmlns:a16="http://schemas.microsoft.com/office/drawing/2014/main" val="2407908265"/>
                  </a:ext>
                </a:extLst>
              </a:tr>
              <a:tr h="322659">
                <a:tc>
                  <a:txBody>
                    <a:bodyPr/>
                    <a:lstStyle/>
                    <a:p>
                      <a:pPr algn="l">
                        <a:lnSpc>
                          <a:spcPct val="150000"/>
                        </a:lnSpc>
                        <a:buNone/>
                      </a:pPr>
                      <a:r>
                        <a:rPr lang="pl-PL" sz="1100">
                          <a:effectLst/>
                        </a:rPr>
                        <a:t>p.Con planner</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a:effectLst/>
                        </a:rPr>
                        <a:t>Zakup Jednorazowy</a:t>
                      </a:r>
                      <a:endParaRPr lang="pl-PL" sz="110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Darmowy/19 999 </a:t>
                      </a:r>
                      <a:r>
                        <a:rPr lang="pl-PL" sz="1100" dirty="0" err="1">
                          <a:effectLst/>
                        </a:rPr>
                        <a:t>zl</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2D/3D/VR</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tc>
                  <a:txBody>
                    <a:bodyPr/>
                    <a:lstStyle/>
                    <a:p>
                      <a:pPr algn="l">
                        <a:lnSpc>
                          <a:spcPct val="150000"/>
                        </a:lnSpc>
                        <a:buNone/>
                      </a:pPr>
                      <a:r>
                        <a:rPr lang="pl-PL" sz="1100" dirty="0">
                          <a:effectLst/>
                        </a:rPr>
                        <a:t>Baza gotowych modeli, Wtyczka VR</a:t>
                      </a:r>
                      <a:endParaRPr lang="pl-PL" sz="1100" dirty="0">
                        <a:effectLst/>
                        <a:latin typeface="Arial" panose="020B0604020202020204" pitchFamily="34" charset="0"/>
                        <a:ea typeface="Calibri" panose="020F0502020204030204" pitchFamily="34" charset="0"/>
                        <a:cs typeface="Times New Roman" panose="02020603050405020304" pitchFamily="18" charset="0"/>
                      </a:endParaRPr>
                    </a:p>
                  </a:txBody>
                  <a:tcPr marL="25291" marR="25291" marT="0" marB="0"/>
                </a:tc>
                <a:extLst>
                  <a:ext uri="{0D108BD9-81ED-4DB2-BD59-A6C34878D82A}">
                    <a16:rowId xmlns:a16="http://schemas.microsoft.com/office/drawing/2014/main" val="3872065160"/>
                  </a:ext>
                </a:extLst>
              </a:tr>
            </a:tbl>
          </a:graphicData>
        </a:graphic>
      </p:graphicFrame>
    </p:spTree>
    <p:extLst>
      <p:ext uri="{BB962C8B-B14F-4D97-AF65-F5344CB8AC3E}">
        <p14:creationId xmlns:p14="http://schemas.microsoft.com/office/powerpoint/2010/main" val="1534340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95AA1-20F1-C00D-89C8-8B03690B0DA3}"/>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B864EDC4-F17F-2865-AC10-6C1BA8006CC4}"/>
              </a:ext>
            </a:extLst>
          </p:cNvPr>
          <p:cNvSpPr>
            <a:spLocks noGrp="1"/>
          </p:cNvSpPr>
          <p:nvPr>
            <p:ph type="title"/>
          </p:nvPr>
        </p:nvSpPr>
        <p:spPr>
          <a:xfrm>
            <a:off x="143435" y="367554"/>
            <a:ext cx="11905130" cy="995082"/>
          </a:xfrm>
        </p:spPr>
        <p:txBody>
          <a:bodyPr/>
          <a:lstStyle/>
          <a:p>
            <a:r>
              <a:rPr lang="pl-PL" dirty="0"/>
              <a:t>Wstęp – Wirtualna Rzeczywistość</a:t>
            </a:r>
          </a:p>
        </p:txBody>
      </p:sp>
      <p:sp>
        <p:nvSpPr>
          <p:cNvPr id="3" name="Symbol zastępczy zawartości 2">
            <a:extLst>
              <a:ext uri="{FF2B5EF4-FFF2-40B4-BE49-F238E27FC236}">
                <a16:creationId xmlns:a16="http://schemas.microsoft.com/office/drawing/2014/main" id="{AD179727-D455-3887-E97B-7DCE0D82CB70}"/>
              </a:ext>
            </a:extLst>
          </p:cNvPr>
          <p:cNvSpPr>
            <a:spLocks noGrp="1"/>
          </p:cNvSpPr>
          <p:nvPr>
            <p:ph idx="1"/>
          </p:nvPr>
        </p:nvSpPr>
        <p:spPr>
          <a:xfrm>
            <a:off x="143435" y="1362637"/>
            <a:ext cx="11080378" cy="5307104"/>
          </a:xfrm>
        </p:spPr>
        <p:txBody>
          <a:bodyPr/>
          <a:lstStyle/>
          <a:p>
            <a:pPr marL="0" indent="0" algn="just">
              <a:buNone/>
            </a:pPr>
            <a:r>
              <a:rPr lang="pl-PL" sz="1400" dirty="0"/>
              <a:t>Rzeczywistość wirtualna to obraz sztucznej rzeczywistości stworzony przy wykorzystaniu technologii informatycznej. Polega na multimedialnym kreowaniu komputerowej wizji przedmiotów, przestrzeni i zdarzeń. Może on reprezentować zarówno elementy świata realnego, jak i zupełnie fikcyjnego. Najważniejszym elementem tej technologii jest interakcja z wirtualnym środowiskiem oparta o ruch użytkownika. Jest ona używana do wizualizacji, gdzie użytkownik w pierwszej osobie może obejrzeć projekt. </a:t>
            </a:r>
          </a:p>
          <a:p>
            <a:pPr marL="0" indent="0">
              <a:buNone/>
            </a:pPr>
            <a:r>
              <a:rPr lang="pl-PL" sz="1400" dirty="0"/>
              <a:t>Spis zestawów VR</a:t>
            </a:r>
            <a:r>
              <a:rPr lang="pl-PL" sz="1600" dirty="0"/>
              <a:t>:</a:t>
            </a:r>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graphicFrame>
        <p:nvGraphicFramePr>
          <p:cNvPr id="4" name="Tabela 3">
            <a:extLst>
              <a:ext uri="{FF2B5EF4-FFF2-40B4-BE49-F238E27FC236}">
                <a16:creationId xmlns:a16="http://schemas.microsoft.com/office/drawing/2014/main" id="{290F22CC-A695-CAE5-D03C-7BC5B13E9C34}"/>
              </a:ext>
            </a:extLst>
          </p:cNvPr>
          <p:cNvGraphicFramePr>
            <a:graphicFrameLocks noGrp="1"/>
          </p:cNvGraphicFramePr>
          <p:nvPr>
            <p:extLst>
              <p:ext uri="{D42A27DB-BD31-4B8C-83A1-F6EECF244321}">
                <p14:modId xmlns:p14="http://schemas.microsoft.com/office/powerpoint/2010/main" val="1633436955"/>
              </p:ext>
            </p:extLst>
          </p:nvPr>
        </p:nvGraphicFramePr>
        <p:xfrm>
          <a:off x="143434" y="2702258"/>
          <a:ext cx="11080380" cy="3968923"/>
        </p:xfrm>
        <a:graphic>
          <a:graphicData uri="http://schemas.openxmlformats.org/drawingml/2006/table">
            <a:tbl>
              <a:tblPr firstRow="1" firstCol="1" bandRow="1">
                <a:tableStyleId>{5C22544A-7EE6-4342-B048-85BDC9FD1C3A}</a:tableStyleId>
              </a:tblPr>
              <a:tblGrid>
                <a:gridCol w="1207532">
                  <a:extLst>
                    <a:ext uri="{9D8B030D-6E8A-4147-A177-3AD203B41FA5}">
                      <a16:colId xmlns:a16="http://schemas.microsoft.com/office/drawing/2014/main" val="3667982810"/>
                    </a:ext>
                  </a:extLst>
                </a:gridCol>
                <a:gridCol w="1679669">
                  <a:extLst>
                    <a:ext uri="{9D8B030D-6E8A-4147-A177-3AD203B41FA5}">
                      <a16:colId xmlns:a16="http://schemas.microsoft.com/office/drawing/2014/main" val="8836512"/>
                    </a:ext>
                  </a:extLst>
                </a:gridCol>
                <a:gridCol w="887420">
                  <a:extLst>
                    <a:ext uri="{9D8B030D-6E8A-4147-A177-3AD203B41FA5}">
                      <a16:colId xmlns:a16="http://schemas.microsoft.com/office/drawing/2014/main" val="2925828577"/>
                    </a:ext>
                  </a:extLst>
                </a:gridCol>
                <a:gridCol w="1689556">
                  <a:extLst>
                    <a:ext uri="{9D8B030D-6E8A-4147-A177-3AD203B41FA5}">
                      <a16:colId xmlns:a16="http://schemas.microsoft.com/office/drawing/2014/main" val="3971175562"/>
                    </a:ext>
                  </a:extLst>
                </a:gridCol>
                <a:gridCol w="1615398">
                  <a:extLst>
                    <a:ext uri="{9D8B030D-6E8A-4147-A177-3AD203B41FA5}">
                      <a16:colId xmlns:a16="http://schemas.microsoft.com/office/drawing/2014/main" val="3421818127"/>
                    </a:ext>
                  </a:extLst>
                </a:gridCol>
                <a:gridCol w="1239669">
                  <a:extLst>
                    <a:ext uri="{9D8B030D-6E8A-4147-A177-3AD203B41FA5}">
                      <a16:colId xmlns:a16="http://schemas.microsoft.com/office/drawing/2014/main" val="1681559505"/>
                    </a:ext>
                  </a:extLst>
                </a:gridCol>
                <a:gridCol w="1929333">
                  <a:extLst>
                    <a:ext uri="{9D8B030D-6E8A-4147-A177-3AD203B41FA5}">
                      <a16:colId xmlns:a16="http://schemas.microsoft.com/office/drawing/2014/main" val="239348676"/>
                    </a:ext>
                  </a:extLst>
                </a:gridCol>
                <a:gridCol w="831803">
                  <a:extLst>
                    <a:ext uri="{9D8B030D-6E8A-4147-A177-3AD203B41FA5}">
                      <a16:colId xmlns:a16="http://schemas.microsoft.com/office/drawing/2014/main" val="4161427337"/>
                    </a:ext>
                  </a:extLst>
                </a:gridCol>
              </a:tblGrid>
              <a:tr h="513973">
                <a:tc>
                  <a:txBody>
                    <a:bodyPr/>
                    <a:lstStyle/>
                    <a:p>
                      <a:pPr algn="just">
                        <a:lnSpc>
                          <a:spcPct val="150000"/>
                        </a:lnSpc>
                        <a:buNone/>
                      </a:pPr>
                      <a:r>
                        <a:rPr lang="pl-PL" sz="1200" dirty="0">
                          <a:effectLst/>
                        </a:rPr>
                        <a:t>Nazwa</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Typ</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Cena</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Rozdzielczość na oko</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Odświerzanie</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CPU</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Kontrolery</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Bateria</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extLst>
                  <a:ext uri="{0D108BD9-81ED-4DB2-BD59-A6C34878D82A}">
                    <a16:rowId xmlns:a16="http://schemas.microsoft.com/office/drawing/2014/main" val="168281251"/>
                  </a:ext>
                </a:extLst>
              </a:tr>
              <a:tr h="1214983">
                <a:tc>
                  <a:txBody>
                    <a:bodyPr/>
                    <a:lstStyle/>
                    <a:p>
                      <a:pPr algn="just">
                        <a:lnSpc>
                          <a:spcPct val="150000"/>
                        </a:lnSpc>
                        <a:buNone/>
                      </a:pPr>
                      <a:r>
                        <a:rPr lang="pl-PL" sz="1200" dirty="0">
                          <a:effectLst/>
                        </a:rPr>
                        <a:t>Meta Quest 3</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Autonomiczne</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$499</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2064x2208</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120 Hz</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Octa-core Kryo (1 x 3.19 GHz, 4 x 2.8 GHz, 3 x 2.0 GHz)</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2 x Meta Quest Touch Plus Controllers</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2.2 h</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extLst>
                  <a:ext uri="{0D108BD9-81ED-4DB2-BD59-A6C34878D82A}">
                    <a16:rowId xmlns:a16="http://schemas.microsoft.com/office/drawing/2014/main" val="2995885317"/>
                  </a:ext>
                </a:extLst>
              </a:tr>
              <a:tr h="588045">
                <a:tc>
                  <a:txBody>
                    <a:bodyPr/>
                    <a:lstStyle/>
                    <a:p>
                      <a:pPr algn="just">
                        <a:lnSpc>
                          <a:spcPct val="150000"/>
                        </a:lnSpc>
                        <a:buNone/>
                      </a:pPr>
                      <a:r>
                        <a:rPr lang="pl-PL" sz="1200" dirty="0">
                          <a:effectLst/>
                        </a:rPr>
                        <a:t>Samsung Galaxy XR</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Autonomiczne</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$2048</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3552x3840</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90 Hz</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Snapdragon XR2+ Gen 2</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2 x Samsung Galaxy XR Controller</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2 h</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extLst>
                  <a:ext uri="{0D108BD9-81ED-4DB2-BD59-A6C34878D82A}">
                    <a16:rowId xmlns:a16="http://schemas.microsoft.com/office/drawing/2014/main" val="1280808134"/>
                  </a:ext>
                </a:extLst>
              </a:tr>
              <a:tr h="274575">
                <a:tc>
                  <a:txBody>
                    <a:bodyPr/>
                    <a:lstStyle/>
                    <a:p>
                      <a:pPr algn="just">
                        <a:lnSpc>
                          <a:spcPct val="150000"/>
                        </a:lnSpc>
                        <a:buNone/>
                      </a:pPr>
                      <a:r>
                        <a:rPr lang="pl-PL" sz="1200">
                          <a:effectLst/>
                        </a:rPr>
                        <a:t>Valve Index</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Wymagany PC</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$999</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1440x1600</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144 Hz</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 </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2 x Index Controller</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 </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extLst>
                  <a:ext uri="{0D108BD9-81ED-4DB2-BD59-A6C34878D82A}">
                    <a16:rowId xmlns:a16="http://schemas.microsoft.com/office/drawing/2014/main" val="4172636155"/>
                  </a:ext>
                </a:extLst>
              </a:tr>
              <a:tr h="787863">
                <a:tc>
                  <a:txBody>
                    <a:bodyPr/>
                    <a:lstStyle/>
                    <a:p>
                      <a:pPr algn="just">
                        <a:lnSpc>
                          <a:spcPct val="150000"/>
                        </a:lnSpc>
                        <a:buNone/>
                      </a:pPr>
                      <a:r>
                        <a:rPr lang="pl-PL" sz="1200">
                          <a:effectLst/>
                        </a:rPr>
                        <a:t>Apple Vision Pro M5</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Autonomiczne</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$3499</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3660x3200</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120 </a:t>
                      </a:r>
                      <a:r>
                        <a:rPr lang="pl-PL" sz="1200" dirty="0" err="1">
                          <a:effectLst/>
                        </a:rPr>
                        <a:t>Hz</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10-core (4 x 4.6 GHz, 6 x 3.0 GHz)</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 </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2.5 h</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extLst>
                  <a:ext uri="{0D108BD9-81ED-4DB2-BD59-A6C34878D82A}">
                    <a16:rowId xmlns:a16="http://schemas.microsoft.com/office/drawing/2014/main" val="840387838"/>
                  </a:ext>
                </a:extLst>
              </a:tr>
              <a:tr h="588045">
                <a:tc>
                  <a:txBody>
                    <a:bodyPr/>
                    <a:lstStyle/>
                    <a:p>
                      <a:pPr algn="just">
                        <a:lnSpc>
                          <a:spcPct val="150000"/>
                        </a:lnSpc>
                        <a:buNone/>
                      </a:pPr>
                      <a:r>
                        <a:rPr lang="pl-PL" sz="1200">
                          <a:effectLst/>
                        </a:rPr>
                        <a:t>Playstation VR 2</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Wymagany PC</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$399</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a:effectLst/>
                        </a:rPr>
                        <a:t>2000X2040</a:t>
                      </a:r>
                      <a:endParaRPr lang="pl-PL" sz="120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120 </a:t>
                      </a:r>
                      <a:r>
                        <a:rPr lang="pl-PL" sz="1200" dirty="0" err="1">
                          <a:effectLst/>
                        </a:rPr>
                        <a:t>Hz</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 </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ctr">
                        <a:lnSpc>
                          <a:spcPct val="150000"/>
                        </a:lnSpc>
                        <a:buNone/>
                      </a:pPr>
                      <a:r>
                        <a:rPr lang="pl-PL" sz="1200" dirty="0">
                          <a:effectLst/>
                        </a:rPr>
                        <a:t>2 x </a:t>
                      </a:r>
                      <a:r>
                        <a:rPr lang="pl-PL" sz="1200" dirty="0" err="1">
                          <a:effectLst/>
                        </a:rPr>
                        <a:t>Playstation</a:t>
                      </a:r>
                      <a:r>
                        <a:rPr lang="pl-PL" sz="1200" dirty="0">
                          <a:effectLst/>
                        </a:rPr>
                        <a:t> VR2 </a:t>
                      </a:r>
                      <a:r>
                        <a:rPr lang="pl-PL" sz="1200" dirty="0" err="1">
                          <a:effectLst/>
                        </a:rPr>
                        <a:t>Sense</a:t>
                      </a:r>
                      <a:r>
                        <a:rPr lang="pl-PL" sz="1200" dirty="0">
                          <a:effectLst/>
                        </a:rPr>
                        <a:t> </a:t>
                      </a:r>
                      <a:r>
                        <a:rPr lang="pl-PL" sz="1200" dirty="0" err="1">
                          <a:effectLst/>
                        </a:rPr>
                        <a:t>Controlle</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tc>
                  <a:txBody>
                    <a:bodyPr/>
                    <a:lstStyle/>
                    <a:p>
                      <a:pPr algn="just">
                        <a:lnSpc>
                          <a:spcPct val="150000"/>
                        </a:lnSpc>
                        <a:buNone/>
                      </a:pPr>
                      <a:r>
                        <a:rPr lang="pl-PL" sz="1200" dirty="0">
                          <a:effectLst/>
                        </a:rPr>
                        <a:t> </a:t>
                      </a:r>
                      <a:endParaRPr lang="pl-PL" sz="1200" dirty="0">
                        <a:effectLst/>
                        <a:latin typeface="Arial" panose="020B0604020202020204" pitchFamily="34" charset="0"/>
                        <a:ea typeface="Calibri" panose="020F0502020204030204" pitchFamily="34" charset="0"/>
                        <a:cs typeface="Times New Roman" panose="02020603050405020304" pitchFamily="18" charset="0"/>
                      </a:endParaRPr>
                    </a:p>
                  </a:txBody>
                  <a:tcPr marL="27488" marR="27488" marT="0" marB="0"/>
                </a:tc>
                <a:extLst>
                  <a:ext uri="{0D108BD9-81ED-4DB2-BD59-A6C34878D82A}">
                    <a16:rowId xmlns:a16="http://schemas.microsoft.com/office/drawing/2014/main" val="1881099365"/>
                  </a:ext>
                </a:extLst>
              </a:tr>
            </a:tbl>
          </a:graphicData>
        </a:graphic>
      </p:graphicFrame>
    </p:spTree>
    <p:extLst>
      <p:ext uri="{BB962C8B-B14F-4D97-AF65-F5344CB8AC3E}">
        <p14:creationId xmlns:p14="http://schemas.microsoft.com/office/powerpoint/2010/main" val="1016537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B0B1-64E3-AE43-9E4E-484168DA1514}"/>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5D20FD28-C824-6802-44C4-61ADCC31F770}"/>
              </a:ext>
            </a:extLst>
          </p:cNvPr>
          <p:cNvSpPr>
            <a:spLocks noGrp="1"/>
          </p:cNvSpPr>
          <p:nvPr>
            <p:ph type="title"/>
          </p:nvPr>
        </p:nvSpPr>
        <p:spPr>
          <a:xfrm>
            <a:off x="143435" y="367554"/>
            <a:ext cx="11905130" cy="995082"/>
          </a:xfrm>
        </p:spPr>
        <p:txBody>
          <a:bodyPr/>
          <a:lstStyle/>
          <a:p>
            <a:r>
              <a:rPr lang="pl-PL" dirty="0"/>
              <a:t>Cel pracy</a:t>
            </a:r>
          </a:p>
        </p:txBody>
      </p:sp>
      <p:sp>
        <p:nvSpPr>
          <p:cNvPr id="3" name="Symbol zastępczy zawartości 2">
            <a:extLst>
              <a:ext uri="{FF2B5EF4-FFF2-40B4-BE49-F238E27FC236}">
                <a16:creationId xmlns:a16="http://schemas.microsoft.com/office/drawing/2014/main" id="{B0B5AD0F-5625-E6AE-87EA-335E4C52A4CD}"/>
              </a:ext>
            </a:extLst>
          </p:cNvPr>
          <p:cNvSpPr>
            <a:spLocks noGrp="1"/>
          </p:cNvSpPr>
          <p:nvPr>
            <p:ph idx="1"/>
          </p:nvPr>
        </p:nvSpPr>
        <p:spPr>
          <a:xfrm>
            <a:off x="143434" y="1362637"/>
            <a:ext cx="11071413" cy="5307104"/>
          </a:xfrm>
        </p:spPr>
        <p:txBody>
          <a:bodyPr>
            <a:noAutofit/>
          </a:bodyPr>
          <a:lstStyle/>
          <a:p>
            <a:pPr marL="0" indent="0" algn="just">
              <a:buNone/>
            </a:pPr>
            <a:r>
              <a:rPr lang="pl-PL" sz="1600" dirty="0"/>
              <a:t>Celem pracy jest opracowanie systemu do projektowania wnętrz, który wykorzysta technologię wirtualnej rzeczywistości. Obsługa całego programu ma być oparta o fizyczną interakcje za pośrednictwem kontrolerów śledzących ruch dłoni. To co będzie wyróżniać ten program od reszty podobnych rozwiązań to oparcie całego procesu projektowania wnętrza na wirtualnej rzeczywistości. Użytkownik za pomocą technologii wirtualnej rzeczywistości będzie w stanie zaprojektować jedno pomieszczenie. Ten projekt będzie mógł znaleźć zastosowanie w sklepach meblarskich jako oprogramowanie pomocnicze dla klientów. Pozwalające na szybką wizualizację przy pomocy modeli mebli dostarczonym przez sklep. </a:t>
            </a:r>
          </a:p>
          <a:p>
            <a:pPr marL="0" indent="0" algn="just">
              <a:buNone/>
            </a:pPr>
            <a:r>
              <a:rPr lang="pl-PL" sz="1600" dirty="0"/>
              <a:t>Podstawowe funkcjonalności:</a:t>
            </a:r>
          </a:p>
          <a:p>
            <a:pPr algn="just"/>
            <a:r>
              <a:rPr lang="pl-PL" sz="1600" dirty="0"/>
              <a:t>Generacja pomieszczeń na podstawie wymiarów podanych użytkownika</a:t>
            </a:r>
          </a:p>
          <a:p>
            <a:pPr algn="just"/>
            <a:r>
              <a:rPr lang="pl-PL" sz="1600" dirty="0"/>
              <a:t>Interakcja z otoczeniem oparta o ruch użytkownika</a:t>
            </a:r>
          </a:p>
          <a:p>
            <a:pPr algn="just"/>
            <a:r>
              <a:rPr lang="pl-PL" sz="1600" dirty="0"/>
              <a:t>Tworzenie i interakcja z przedmiotami</a:t>
            </a:r>
          </a:p>
          <a:p>
            <a:pPr algn="just"/>
            <a:r>
              <a:rPr lang="pl-PL" sz="1600" dirty="0"/>
              <a:t>Zmiana wyglądu i koloru ścian</a:t>
            </a:r>
          </a:p>
          <a:p>
            <a:pPr algn="just"/>
            <a:r>
              <a:rPr lang="pl-PL" sz="1600" dirty="0"/>
              <a:t>Tworzenie dodatkowych ścian</a:t>
            </a:r>
          </a:p>
          <a:p>
            <a:pPr algn="just"/>
            <a:r>
              <a:rPr lang="pl-PL" sz="1600" dirty="0"/>
              <a:t>Tworzenie stałych obiektów</a:t>
            </a:r>
          </a:p>
          <a:p>
            <a:pPr algn="just"/>
            <a:r>
              <a:rPr lang="pl-PL" sz="1600" dirty="0"/>
              <a:t>Podgląd z lotu ptaka</a:t>
            </a:r>
          </a:p>
          <a:p>
            <a:pPr marL="0" indent="0" algn="just">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2347897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A3518-21B2-8591-7AC6-F00911F52BC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CF366E2D-3434-BC7B-D652-A7186A18FD7F}"/>
              </a:ext>
            </a:extLst>
          </p:cNvPr>
          <p:cNvSpPr>
            <a:spLocks noGrp="1"/>
          </p:cNvSpPr>
          <p:nvPr>
            <p:ph type="title"/>
          </p:nvPr>
        </p:nvSpPr>
        <p:spPr>
          <a:xfrm>
            <a:off x="143435" y="367554"/>
            <a:ext cx="11905130" cy="995082"/>
          </a:xfrm>
        </p:spPr>
        <p:txBody>
          <a:bodyPr>
            <a:normAutofit/>
          </a:bodyPr>
          <a:lstStyle/>
          <a:p>
            <a:r>
              <a:rPr lang="pl-PL" dirty="0"/>
              <a:t>Implementacja Wirtualnej Rzeczywistości</a:t>
            </a:r>
          </a:p>
        </p:txBody>
      </p:sp>
      <p:sp>
        <p:nvSpPr>
          <p:cNvPr id="3" name="Symbol zastępczy zawartości 2">
            <a:extLst>
              <a:ext uri="{FF2B5EF4-FFF2-40B4-BE49-F238E27FC236}">
                <a16:creationId xmlns:a16="http://schemas.microsoft.com/office/drawing/2014/main" id="{7305A406-9550-27C8-41B7-2FCD30F1BA56}"/>
              </a:ext>
            </a:extLst>
          </p:cNvPr>
          <p:cNvSpPr>
            <a:spLocks noGrp="1"/>
          </p:cNvSpPr>
          <p:nvPr>
            <p:ph idx="1"/>
          </p:nvPr>
        </p:nvSpPr>
        <p:spPr>
          <a:xfrm>
            <a:off x="143435" y="1362637"/>
            <a:ext cx="11080378" cy="5307104"/>
          </a:xfrm>
        </p:spPr>
        <p:txBody>
          <a:bodyPr>
            <a:noAutofit/>
          </a:bodyPr>
          <a:lstStyle/>
          <a:p>
            <a:pPr marL="0" indent="0" algn="just">
              <a:buNone/>
            </a:pPr>
            <a:r>
              <a:rPr lang="pl-PL" sz="1600" dirty="0"/>
              <a:t>Najważniejszym punktem w projekcie jest implementacja wirtualnej rzeczywistości do projektu. Jest ona fundamentem całego projektu i w oparciu o nią reszta funkcjonalności będzie opracowywana. Głównym zadaniem wirtualnej rzeczywistości jest zapewnienie intuicyjności w obsłudze systemu i danie użytkownikowi wolności w projektowaniu wnętrza. Główną platformą, na którą będzie projektowany system jest zestaw VR Meta Quest 3. Pozwoli on nie tylko na wykorzystanie tej technologii, ale i również umożliwi uruchamianie projektu bezpośrednio na sprzęcie bez pośrednictwa komputera.</a:t>
            </a:r>
          </a:p>
          <a:p>
            <a:pPr marL="0" indent="0">
              <a:buNone/>
            </a:pPr>
            <a:endParaRPr lang="pl-PL" sz="1600" dirty="0"/>
          </a:p>
          <a:p>
            <a:pPr marL="0" indent="0">
              <a:buNone/>
            </a:pPr>
            <a:endParaRPr lang="pl-PL" sz="1600" dirty="0"/>
          </a:p>
          <a:p>
            <a:pPr marL="0" indent="0">
              <a:buNone/>
            </a:pPr>
            <a:r>
              <a:rPr lang="pl-PL" sz="1600" dirty="0"/>
              <a:t>Podstawowymi zagadnieniami dotyczącego tego punktu jest:</a:t>
            </a:r>
          </a:p>
          <a:p>
            <a:r>
              <a:rPr lang="pl-PL" sz="1600" dirty="0"/>
              <a:t>Sposób poruszania się użytkownika po przestrzeni trójwymiarowej</a:t>
            </a:r>
          </a:p>
          <a:p>
            <a:r>
              <a:rPr lang="pl-PL" sz="1600" dirty="0"/>
              <a:t>Sposób sztucznego obrotu użytkownika</a:t>
            </a:r>
          </a:p>
          <a:p>
            <a:r>
              <a:rPr lang="pl-PL" sz="1600" dirty="0"/>
              <a:t>Interakcja z przedmiotami w przestrzeni trójwymiarowej</a:t>
            </a:r>
          </a:p>
          <a:p>
            <a:r>
              <a:rPr lang="pl-PL" sz="1600" dirty="0"/>
              <a:t>Uruchamianie oprogramowania natywnie na zestawie VR</a:t>
            </a:r>
          </a:p>
          <a:p>
            <a:endParaRPr lang="pl-PL" dirty="0"/>
          </a:p>
          <a:p>
            <a:pPr marL="0" indent="0">
              <a:buNone/>
            </a:pPr>
            <a:endParaRPr lang="pl-PL" dirty="0"/>
          </a:p>
          <a:p>
            <a:endParaRPr lang="pl-PL" dirty="0"/>
          </a:p>
          <a:p>
            <a:endParaRPr lang="pl-PL" dirty="0"/>
          </a:p>
        </p:txBody>
      </p:sp>
    </p:spTree>
    <p:extLst>
      <p:ext uri="{BB962C8B-B14F-4D97-AF65-F5344CB8AC3E}">
        <p14:creationId xmlns:p14="http://schemas.microsoft.com/office/powerpoint/2010/main" val="1424420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714B2-0388-C9F1-0931-77718BA6002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0359D83E-C459-0F8C-A7D7-6EDBC4C5CD16}"/>
              </a:ext>
            </a:extLst>
          </p:cNvPr>
          <p:cNvSpPr>
            <a:spLocks noGrp="1"/>
          </p:cNvSpPr>
          <p:nvPr>
            <p:ph type="title"/>
          </p:nvPr>
        </p:nvSpPr>
        <p:spPr>
          <a:xfrm>
            <a:off x="143435" y="367554"/>
            <a:ext cx="11080378" cy="995082"/>
          </a:xfrm>
        </p:spPr>
        <p:txBody>
          <a:bodyPr>
            <a:normAutofit/>
          </a:bodyPr>
          <a:lstStyle/>
          <a:p>
            <a:r>
              <a:rPr lang="pl-PL" dirty="0"/>
              <a:t>Płynne Poruszanie oraz Skokowy Obrót</a:t>
            </a:r>
          </a:p>
        </p:txBody>
      </p:sp>
      <p:sp>
        <p:nvSpPr>
          <p:cNvPr id="3" name="Symbol zastępczy zawartości 2">
            <a:extLst>
              <a:ext uri="{FF2B5EF4-FFF2-40B4-BE49-F238E27FC236}">
                <a16:creationId xmlns:a16="http://schemas.microsoft.com/office/drawing/2014/main" id="{E7118AFC-F819-75C0-1E40-A81B0071DD81}"/>
              </a:ext>
            </a:extLst>
          </p:cNvPr>
          <p:cNvSpPr>
            <a:spLocks noGrp="1"/>
          </p:cNvSpPr>
          <p:nvPr>
            <p:ph idx="1"/>
          </p:nvPr>
        </p:nvSpPr>
        <p:spPr>
          <a:xfrm>
            <a:off x="143435" y="1362637"/>
            <a:ext cx="11080378" cy="5307104"/>
          </a:xfrm>
        </p:spPr>
        <p:txBody>
          <a:bodyPr>
            <a:noAutofit/>
          </a:bodyPr>
          <a:lstStyle/>
          <a:p>
            <a:pPr marL="0" indent="0" algn="just">
              <a:buNone/>
            </a:pPr>
            <a:r>
              <a:rPr lang="pl-PL" sz="1600" dirty="0"/>
              <a:t>Użytkownik za pomocą gałki analogowej prawego kontrolera ruchowego porusza się w przestrzeni trójwymiarowej. Może on się przemieszczać po dwóch osiach ze stałą prędkością. Naturalny powolny ruch zmniejsza ryzyko choroby symulacyjnej oraz nie dezorientuje użytkownika jak teleportacja. Dodatkowo implementacja tego rozwiązania wymaga mniejszego nakładu pracy i daje lepsze efekty w porównaniu do teleportacji.</a:t>
            </a:r>
          </a:p>
          <a:p>
            <a:pPr marL="0" indent="0" algn="just">
              <a:buNone/>
            </a:pPr>
            <a:endParaRPr lang="pl-PL" sz="1600" dirty="0"/>
          </a:p>
          <a:p>
            <a:pPr marL="0" indent="0" algn="just">
              <a:buNone/>
            </a:pPr>
            <a:r>
              <a:rPr lang="pl-PL" sz="1600" dirty="0"/>
              <a:t>Użytkownik za pomocą gałki analogowej lewego kontrolera ruchowego obraca się w przestrzeni trójwymiarowej. Może on się obracać wokół jednej osi o kąt 45 stopni. Takie rozwiązanie jest potrzebne, by móc korygować orientacje w przestrzeni 3D oraz dać możliwość obrotu w sytuacji, gdzie fizyczny obrót nie jest możliwy. To jest bardzo kluczowa funkcjonalność bez której interakcja w wirtualnym świecie byłaby utrudniona i mniej wygodna dla użytkownika.</a:t>
            </a:r>
          </a:p>
          <a:p>
            <a:pPr marL="0" indent="0" algn="just">
              <a:buNone/>
            </a:pPr>
            <a:endParaRPr lang="pl-PL" sz="1600" dirty="0"/>
          </a:p>
          <a:p>
            <a:pPr marL="0" indent="0" algn="just">
              <a:buNone/>
            </a:pPr>
            <a:r>
              <a:rPr lang="pl-PL" sz="1600" dirty="0"/>
              <a:t>Choroba symulatorowa - zespół dolegliwości, takich jak nudności, zawroty głowy, bóle głowy i dezorientacja, które pojawiają się u części osób podczas korzystania z technologii wirtualnej rzeczywistości (VR). Wynika ona z konfliktu sensorycznego: wzrok informuje mózg o ruchu w wirtualnym świecie, podczas gdy ciało pozostaje nieruchome. Podobna do choroby lokomocyjnej, choroba symulatorowa jest często związana z brakiem synchronizacji między ruchem głowy a obrazem na ekranie, sztuczną lokomocją w grze i innymi czynnikami, takimi jak niska częstotliwość odświeżania obrazu. </a:t>
            </a:r>
          </a:p>
        </p:txBody>
      </p:sp>
    </p:spTree>
    <p:extLst>
      <p:ext uri="{BB962C8B-B14F-4D97-AF65-F5344CB8AC3E}">
        <p14:creationId xmlns:p14="http://schemas.microsoft.com/office/powerpoint/2010/main" val="2672094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646D4-83C9-F107-5593-692B8828A6CC}"/>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DEC05EC7-73D0-B53B-8F7C-F4B68AB67CDC}"/>
              </a:ext>
            </a:extLst>
          </p:cNvPr>
          <p:cNvSpPr>
            <a:spLocks noGrp="1"/>
          </p:cNvSpPr>
          <p:nvPr>
            <p:ph type="title"/>
          </p:nvPr>
        </p:nvSpPr>
        <p:spPr>
          <a:xfrm>
            <a:off x="143435" y="367554"/>
            <a:ext cx="11080378" cy="995082"/>
          </a:xfrm>
        </p:spPr>
        <p:txBody>
          <a:bodyPr>
            <a:normAutofit/>
          </a:bodyPr>
          <a:lstStyle/>
          <a:p>
            <a:r>
              <a:rPr lang="pl-PL" dirty="0"/>
              <a:t>Interakcja z obiektami</a:t>
            </a:r>
          </a:p>
        </p:txBody>
      </p:sp>
      <p:sp>
        <p:nvSpPr>
          <p:cNvPr id="3" name="Symbol zastępczy zawartości 2">
            <a:extLst>
              <a:ext uri="{FF2B5EF4-FFF2-40B4-BE49-F238E27FC236}">
                <a16:creationId xmlns:a16="http://schemas.microsoft.com/office/drawing/2014/main" id="{D6AA935A-1ECF-E643-B6F1-0F698AC214B9}"/>
              </a:ext>
            </a:extLst>
          </p:cNvPr>
          <p:cNvSpPr>
            <a:spLocks noGrp="1"/>
          </p:cNvSpPr>
          <p:nvPr>
            <p:ph idx="1"/>
          </p:nvPr>
        </p:nvSpPr>
        <p:spPr>
          <a:xfrm>
            <a:off x="143435" y="1362637"/>
            <a:ext cx="11080378" cy="5307104"/>
          </a:xfrm>
        </p:spPr>
        <p:txBody>
          <a:bodyPr>
            <a:noAutofit/>
          </a:bodyPr>
          <a:lstStyle/>
          <a:p>
            <a:pPr marL="0" indent="0" algn="just">
              <a:buNone/>
            </a:pPr>
            <a:r>
              <a:rPr lang="pl-PL" sz="1600" dirty="0"/>
              <a:t>Użytkownik za pomocą kontrolerów ruchowych jest ma możliwość wejścia w interakcje z obiektami fizycznymi w przestrzeni 3D. Może je podnosić i przestawiać. Ręce też są obiektami fizycznymi, czyli mogą wchodzić w kolizje z innymi obiektami. Dzięki temu rozwiązaniu przemieszczanie przedmiotów w przestrzeni trójwymiarowej jest bardziej naturalne i intuicyjne.</a:t>
            </a:r>
          </a:p>
        </p:txBody>
      </p:sp>
    </p:spTree>
    <p:extLst>
      <p:ext uri="{BB962C8B-B14F-4D97-AF65-F5344CB8AC3E}">
        <p14:creationId xmlns:p14="http://schemas.microsoft.com/office/powerpoint/2010/main" val="596153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50947-C53B-33EC-E9CD-6771592EB5F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BCFB08A8-51D7-126C-1CF6-C870A8CE4A71}"/>
              </a:ext>
            </a:extLst>
          </p:cNvPr>
          <p:cNvSpPr>
            <a:spLocks noGrp="1"/>
          </p:cNvSpPr>
          <p:nvPr>
            <p:ph type="title"/>
          </p:nvPr>
        </p:nvSpPr>
        <p:spPr>
          <a:xfrm>
            <a:off x="143435" y="367554"/>
            <a:ext cx="11080378" cy="995082"/>
          </a:xfrm>
        </p:spPr>
        <p:txBody>
          <a:bodyPr>
            <a:normAutofit/>
          </a:bodyPr>
          <a:lstStyle/>
          <a:p>
            <a:r>
              <a:rPr lang="pl-PL" dirty="0"/>
              <a:t>Uruchamianie bezpośrednio z gogli VR</a:t>
            </a:r>
          </a:p>
        </p:txBody>
      </p:sp>
      <p:sp>
        <p:nvSpPr>
          <p:cNvPr id="3" name="Symbol zastępczy zawartości 2">
            <a:extLst>
              <a:ext uri="{FF2B5EF4-FFF2-40B4-BE49-F238E27FC236}">
                <a16:creationId xmlns:a16="http://schemas.microsoft.com/office/drawing/2014/main" id="{1345DC78-5587-91ED-5416-76871FDD16A7}"/>
              </a:ext>
            </a:extLst>
          </p:cNvPr>
          <p:cNvSpPr>
            <a:spLocks noGrp="1"/>
          </p:cNvSpPr>
          <p:nvPr>
            <p:ph idx="1"/>
          </p:nvPr>
        </p:nvSpPr>
        <p:spPr>
          <a:xfrm>
            <a:off x="143435" y="1362637"/>
            <a:ext cx="11080378" cy="5307104"/>
          </a:xfrm>
        </p:spPr>
        <p:txBody>
          <a:bodyPr>
            <a:noAutofit/>
          </a:bodyPr>
          <a:lstStyle/>
          <a:p>
            <a:pPr marL="0" indent="0" algn="just">
              <a:buNone/>
            </a:pPr>
            <a:r>
              <a:rPr lang="pl-PL" sz="1600" dirty="0"/>
              <a:t>Aplikacja uruchamia się bezpośrednio na zestawie VR, czyniąc program bardziej dostępnym i wygodniejszym dla użytkownika. Urządzeniem na którym będzie uruchamiany program będą gogle Meta Quest 3. Wybór tego konkretnego zestawu VR został oparty jego specyfikacje. Meta Quest 3 oferuje otwarte środowisko oparte o system Android, które jest wspierane przez silnik </a:t>
            </a:r>
            <a:r>
              <a:rPr lang="pl-PL" sz="1600" dirty="0" err="1"/>
              <a:t>Unreal</a:t>
            </a:r>
            <a:r>
              <a:rPr lang="pl-PL" sz="1600" dirty="0"/>
              <a:t> Engine 5. Dodatkowo moc obliczeniowa pozwala na uruchomienie zaawansowanych aplikacji wykorzystujących grafikę trójwymiarową. Ważnym aspektem podczas wyboru okazała się cena zestawu, która nie jest wygórowana przy oferowaniu pełnego doświadczenia wirtualnej rzeczywistości.</a:t>
            </a:r>
          </a:p>
          <a:p>
            <a:pPr marL="0" indent="0" algn="just">
              <a:buNone/>
            </a:pPr>
            <a:r>
              <a:rPr lang="pl-PL" sz="1600" dirty="0"/>
              <a:t>							  Zestaw Meta Quest 3</a:t>
            </a:r>
          </a:p>
        </p:txBody>
      </p:sp>
      <p:pic>
        <p:nvPicPr>
          <p:cNvPr id="5" name="Obraz 4">
            <a:extLst>
              <a:ext uri="{FF2B5EF4-FFF2-40B4-BE49-F238E27FC236}">
                <a16:creationId xmlns:a16="http://schemas.microsoft.com/office/drawing/2014/main" id="{40DF6BF1-EB42-4868-4EDA-773CB7150A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671" y="3224604"/>
            <a:ext cx="6096000" cy="3185160"/>
          </a:xfrm>
          <a:prstGeom prst="rect">
            <a:avLst/>
          </a:prstGeom>
        </p:spPr>
      </p:pic>
    </p:spTree>
    <p:extLst>
      <p:ext uri="{BB962C8B-B14F-4D97-AF65-F5344CB8AC3E}">
        <p14:creationId xmlns:p14="http://schemas.microsoft.com/office/powerpoint/2010/main" val="3530918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A041F-3B68-7ACC-1D78-3BC02D87C535}"/>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C536B95D-24E0-A22F-D3E6-93D0BE4A2C3A}"/>
              </a:ext>
            </a:extLst>
          </p:cNvPr>
          <p:cNvSpPr>
            <a:spLocks noGrp="1"/>
          </p:cNvSpPr>
          <p:nvPr>
            <p:ph type="title"/>
          </p:nvPr>
        </p:nvSpPr>
        <p:spPr>
          <a:xfrm>
            <a:off x="143435" y="367554"/>
            <a:ext cx="11905130" cy="995082"/>
          </a:xfrm>
        </p:spPr>
        <p:txBody>
          <a:bodyPr>
            <a:normAutofit/>
          </a:bodyPr>
          <a:lstStyle/>
          <a:p>
            <a:r>
              <a:rPr lang="pl-PL" dirty="0"/>
              <a:t>Generacja Pomieszczenia</a:t>
            </a:r>
          </a:p>
        </p:txBody>
      </p:sp>
      <p:sp>
        <p:nvSpPr>
          <p:cNvPr id="3" name="Symbol zastępczy zawartości 2">
            <a:extLst>
              <a:ext uri="{FF2B5EF4-FFF2-40B4-BE49-F238E27FC236}">
                <a16:creationId xmlns:a16="http://schemas.microsoft.com/office/drawing/2014/main" id="{E3DC18FE-869F-007F-A041-AA1CE3A9ED9D}"/>
              </a:ext>
            </a:extLst>
          </p:cNvPr>
          <p:cNvSpPr>
            <a:spLocks noGrp="1"/>
          </p:cNvSpPr>
          <p:nvPr>
            <p:ph idx="1"/>
          </p:nvPr>
        </p:nvSpPr>
        <p:spPr>
          <a:xfrm>
            <a:off x="143434" y="1362637"/>
            <a:ext cx="11905129" cy="5307104"/>
          </a:xfrm>
        </p:spPr>
        <p:txBody>
          <a:bodyPr/>
          <a:lstStyle/>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1222462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0911E-E0E7-EF43-E309-ACDF7D7FD92D}"/>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E8ED127B-AD6D-C9C6-F7F0-4A76E95155A0}"/>
              </a:ext>
            </a:extLst>
          </p:cNvPr>
          <p:cNvSpPr>
            <a:spLocks noGrp="1"/>
          </p:cNvSpPr>
          <p:nvPr>
            <p:ph type="title"/>
          </p:nvPr>
        </p:nvSpPr>
        <p:spPr>
          <a:xfrm>
            <a:off x="143435" y="367554"/>
            <a:ext cx="11905130" cy="995082"/>
          </a:xfrm>
        </p:spPr>
        <p:txBody>
          <a:bodyPr>
            <a:normAutofit/>
          </a:bodyPr>
          <a:lstStyle/>
          <a:p>
            <a:r>
              <a:rPr lang="pl-PL" dirty="0"/>
              <a:t>Tablet</a:t>
            </a:r>
          </a:p>
        </p:txBody>
      </p:sp>
      <p:sp>
        <p:nvSpPr>
          <p:cNvPr id="3" name="Symbol zastępczy zawartości 2">
            <a:extLst>
              <a:ext uri="{FF2B5EF4-FFF2-40B4-BE49-F238E27FC236}">
                <a16:creationId xmlns:a16="http://schemas.microsoft.com/office/drawing/2014/main" id="{C5BB6030-4126-2214-1019-37021E5A65AF}"/>
              </a:ext>
            </a:extLst>
          </p:cNvPr>
          <p:cNvSpPr>
            <a:spLocks noGrp="1"/>
          </p:cNvSpPr>
          <p:nvPr>
            <p:ph idx="1"/>
          </p:nvPr>
        </p:nvSpPr>
        <p:spPr>
          <a:xfrm>
            <a:off x="143434" y="1362637"/>
            <a:ext cx="11905129" cy="5307104"/>
          </a:xfrm>
        </p:spPr>
        <p:txBody>
          <a:bodyPr/>
          <a:lstStyle/>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3751241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FB05C-8B88-A0E8-5A83-083B979E1EB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81960820-2062-6601-9318-8725A7015756}"/>
              </a:ext>
            </a:extLst>
          </p:cNvPr>
          <p:cNvSpPr>
            <a:spLocks noGrp="1"/>
          </p:cNvSpPr>
          <p:nvPr>
            <p:ph type="title"/>
          </p:nvPr>
        </p:nvSpPr>
        <p:spPr>
          <a:xfrm>
            <a:off x="143435" y="367554"/>
            <a:ext cx="11905130" cy="995082"/>
          </a:xfrm>
        </p:spPr>
        <p:txBody>
          <a:bodyPr>
            <a:normAutofit/>
          </a:bodyPr>
          <a:lstStyle/>
          <a:p>
            <a:r>
              <a:rPr lang="pl-PL" dirty="0"/>
              <a:t>Tworzenie przedmiotów</a:t>
            </a:r>
          </a:p>
        </p:txBody>
      </p:sp>
      <p:sp>
        <p:nvSpPr>
          <p:cNvPr id="3" name="Symbol zastępczy zawartości 2">
            <a:extLst>
              <a:ext uri="{FF2B5EF4-FFF2-40B4-BE49-F238E27FC236}">
                <a16:creationId xmlns:a16="http://schemas.microsoft.com/office/drawing/2014/main" id="{456EBFDA-A13A-B307-3AA6-DD00420FFE77}"/>
              </a:ext>
            </a:extLst>
          </p:cNvPr>
          <p:cNvSpPr>
            <a:spLocks noGrp="1"/>
          </p:cNvSpPr>
          <p:nvPr>
            <p:ph idx="1"/>
          </p:nvPr>
        </p:nvSpPr>
        <p:spPr>
          <a:xfrm>
            <a:off x="143434" y="1362637"/>
            <a:ext cx="11905129" cy="5307104"/>
          </a:xfrm>
        </p:spPr>
        <p:txBody>
          <a:bodyPr/>
          <a:lstStyle/>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3865485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32F2A-4009-B66D-7FB5-31559E0AE0F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8E4E4B9-5E68-8EE5-1DF8-9E82B8527AEF}"/>
              </a:ext>
            </a:extLst>
          </p:cNvPr>
          <p:cNvSpPr>
            <a:spLocks noGrp="1"/>
          </p:cNvSpPr>
          <p:nvPr>
            <p:ph type="title"/>
          </p:nvPr>
        </p:nvSpPr>
        <p:spPr>
          <a:xfrm>
            <a:off x="143435" y="367554"/>
            <a:ext cx="11905130" cy="995082"/>
          </a:xfrm>
        </p:spPr>
        <p:txBody>
          <a:bodyPr>
            <a:normAutofit/>
          </a:bodyPr>
          <a:lstStyle/>
          <a:p>
            <a:r>
              <a:rPr lang="pl-PL" dirty="0"/>
              <a:t>Interakcja z przedmiotami</a:t>
            </a:r>
          </a:p>
        </p:txBody>
      </p:sp>
      <p:sp>
        <p:nvSpPr>
          <p:cNvPr id="3" name="Symbol zastępczy zawartości 2">
            <a:extLst>
              <a:ext uri="{FF2B5EF4-FFF2-40B4-BE49-F238E27FC236}">
                <a16:creationId xmlns:a16="http://schemas.microsoft.com/office/drawing/2014/main" id="{0C81E2E9-A1E2-3787-B88D-4E0A6192A2C7}"/>
              </a:ext>
            </a:extLst>
          </p:cNvPr>
          <p:cNvSpPr>
            <a:spLocks noGrp="1"/>
          </p:cNvSpPr>
          <p:nvPr>
            <p:ph idx="1"/>
          </p:nvPr>
        </p:nvSpPr>
        <p:spPr>
          <a:xfrm>
            <a:off x="143434" y="1362637"/>
            <a:ext cx="11905129" cy="5307104"/>
          </a:xfrm>
        </p:spPr>
        <p:txBody>
          <a:bodyPr/>
          <a:lstStyle/>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4140615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4B670-7A59-F936-F5D4-75ACA00BF4A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4E040E7-EA21-DC9F-064F-AE717ABEA25E}"/>
              </a:ext>
            </a:extLst>
          </p:cNvPr>
          <p:cNvSpPr>
            <a:spLocks noGrp="1"/>
          </p:cNvSpPr>
          <p:nvPr>
            <p:ph type="title"/>
          </p:nvPr>
        </p:nvSpPr>
        <p:spPr>
          <a:xfrm>
            <a:off x="143435" y="367554"/>
            <a:ext cx="11905130" cy="995082"/>
          </a:xfrm>
        </p:spPr>
        <p:txBody>
          <a:bodyPr>
            <a:normAutofit/>
          </a:bodyPr>
          <a:lstStyle/>
          <a:p>
            <a:r>
              <a:rPr lang="pl-PL" dirty="0"/>
              <a:t>Zmiana wyglądu i koloru ścian</a:t>
            </a:r>
          </a:p>
        </p:txBody>
      </p:sp>
      <p:sp>
        <p:nvSpPr>
          <p:cNvPr id="3" name="Symbol zastępczy zawartości 2">
            <a:extLst>
              <a:ext uri="{FF2B5EF4-FFF2-40B4-BE49-F238E27FC236}">
                <a16:creationId xmlns:a16="http://schemas.microsoft.com/office/drawing/2014/main" id="{866EB9B4-4311-AB1E-3C3B-0A125625876C}"/>
              </a:ext>
            </a:extLst>
          </p:cNvPr>
          <p:cNvSpPr>
            <a:spLocks noGrp="1"/>
          </p:cNvSpPr>
          <p:nvPr>
            <p:ph idx="1"/>
          </p:nvPr>
        </p:nvSpPr>
        <p:spPr>
          <a:xfrm>
            <a:off x="143434" y="1362637"/>
            <a:ext cx="11905129" cy="5307104"/>
          </a:xfrm>
        </p:spPr>
        <p:txBody>
          <a:bodyPr/>
          <a:lstStyle/>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1400430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6F590-C65D-C1CF-1DD6-56EF3BE64AC5}"/>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5FBB3207-A47E-9EE6-D2AA-6A55D22BDE97}"/>
              </a:ext>
            </a:extLst>
          </p:cNvPr>
          <p:cNvSpPr>
            <a:spLocks noGrp="1"/>
          </p:cNvSpPr>
          <p:nvPr>
            <p:ph type="title"/>
          </p:nvPr>
        </p:nvSpPr>
        <p:spPr>
          <a:xfrm>
            <a:off x="143435" y="367554"/>
            <a:ext cx="11905130" cy="995082"/>
          </a:xfrm>
        </p:spPr>
        <p:txBody>
          <a:bodyPr>
            <a:normAutofit/>
          </a:bodyPr>
          <a:lstStyle/>
          <a:p>
            <a:r>
              <a:rPr lang="pl-PL" dirty="0"/>
              <a:t>Zmiana wyglądu i koloru ścian</a:t>
            </a:r>
          </a:p>
        </p:txBody>
      </p:sp>
      <p:sp>
        <p:nvSpPr>
          <p:cNvPr id="3" name="Symbol zastępczy zawartości 2">
            <a:extLst>
              <a:ext uri="{FF2B5EF4-FFF2-40B4-BE49-F238E27FC236}">
                <a16:creationId xmlns:a16="http://schemas.microsoft.com/office/drawing/2014/main" id="{1BD73DA4-AF9A-9B28-B2A4-C3B900191593}"/>
              </a:ext>
            </a:extLst>
          </p:cNvPr>
          <p:cNvSpPr>
            <a:spLocks noGrp="1"/>
          </p:cNvSpPr>
          <p:nvPr>
            <p:ph idx="1"/>
          </p:nvPr>
        </p:nvSpPr>
        <p:spPr>
          <a:xfrm>
            <a:off x="143434" y="1362637"/>
            <a:ext cx="11905129" cy="5307104"/>
          </a:xfrm>
        </p:spPr>
        <p:txBody>
          <a:bodyPr/>
          <a:lstStyle/>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842650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51DDD-1597-6C38-166B-09205BA567F4}"/>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8591E687-2FF5-8160-92DA-2E0D6FC27383}"/>
              </a:ext>
            </a:extLst>
          </p:cNvPr>
          <p:cNvSpPr>
            <a:spLocks noGrp="1"/>
          </p:cNvSpPr>
          <p:nvPr>
            <p:ph type="title"/>
          </p:nvPr>
        </p:nvSpPr>
        <p:spPr>
          <a:xfrm>
            <a:off x="143435" y="367554"/>
            <a:ext cx="11905130" cy="995082"/>
          </a:xfrm>
        </p:spPr>
        <p:txBody>
          <a:bodyPr>
            <a:normAutofit/>
          </a:bodyPr>
          <a:lstStyle/>
          <a:p>
            <a:r>
              <a:rPr lang="pl-PL" dirty="0"/>
              <a:t>Obiekty stałe</a:t>
            </a:r>
          </a:p>
        </p:txBody>
      </p:sp>
      <p:sp>
        <p:nvSpPr>
          <p:cNvPr id="3" name="Symbol zastępczy zawartości 2">
            <a:extLst>
              <a:ext uri="{FF2B5EF4-FFF2-40B4-BE49-F238E27FC236}">
                <a16:creationId xmlns:a16="http://schemas.microsoft.com/office/drawing/2014/main" id="{003976B0-51BE-1750-6FF0-FA734ABD1AEB}"/>
              </a:ext>
            </a:extLst>
          </p:cNvPr>
          <p:cNvSpPr>
            <a:spLocks noGrp="1"/>
          </p:cNvSpPr>
          <p:nvPr>
            <p:ph idx="1"/>
          </p:nvPr>
        </p:nvSpPr>
        <p:spPr>
          <a:xfrm>
            <a:off x="143434" y="1362637"/>
            <a:ext cx="11905129" cy="5307104"/>
          </a:xfrm>
        </p:spPr>
        <p:txBody>
          <a:bodyPr/>
          <a:lstStyle/>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758894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56926-C810-97BF-C306-FEF832B9A8BB}"/>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B8483EB-9952-4746-CF66-BBD21DEE1ED9}"/>
              </a:ext>
            </a:extLst>
          </p:cNvPr>
          <p:cNvSpPr>
            <a:spLocks noGrp="1"/>
          </p:cNvSpPr>
          <p:nvPr>
            <p:ph type="title"/>
          </p:nvPr>
        </p:nvSpPr>
        <p:spPr>
          <a:xfrm>
            <a:off x="143435" y="367554"/>
            <a:ext cx="11905130" cy="995082"/>
          </a:xfrm>
        </p:spPr>
        <p:txBody>
          <a:bodyPr>
            <a:normAutofit/>
          </a:bodyPr>
          <a:lstStyle/>
          <a:p>
            <a:r>
              <a:rPr lang="pl-PL" dirty="0"/>
              <a:t>Dodatkowe ściany</a:t>
            </a:r>
          </a:p>
        </p:txBody>
      </p:sp>
      <p:sp>
        <p:nvSpPr>
          <p:cNvPr id="3" name="Symbol zastępczy zawartości 2">
            <a:extLst>
              <a:ext uri="{FF2B5EF4-FFF2-40B4-BE49-F238E27FC236}">
                <a16:creationId xmlns:a16="http://schemas.microsoft.com/office/drawing/2014/main" id="{C392D018-B3F3-5BE0-495B-BF23D4EE7459}"/>
              </a:ext>
            </a:extLst>
          </p:cNvPr>
          <p:cNvSpPr>
            <a:spLocks noGrp="1"/>
          </p:cNvSpPr>
          <p:nvPr>
            <p:ph idx="1"/>
          </p:nvPr>
        </p:nvSpPr>
        <p:spPr>
          <a:xfrm>
            <a:off x="143434" y="1362637"/>
            <a:ext cx="11905129" cy="5307104"/>
          </a:xfrm>
        </p:spPr>
        <p:txBody>
          <a:bodyPr/>
          <a:lstStyle/>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2277225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0AB7F-0069-FDB5-26E7-693E13ACD3CF}"/>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F16E610F-F4B0-9977-B875-B9F774F7C793}"/>
              </a:ext>
            </a:extLst>
          </p:cNvPr>
          <p:cNvSpPr>
            <a:spLocks noGrp="1"/>
          </p:cNvSpPr>
          <p:nvPr>
            <p:ph type="title"/>
          </p:nvPr>
        </p:nvSpPr>
        <p:spPr>
          <a:xfrm>
            <a:off x="143435" y="367554"/>
            <a:ext cx="11905130" cy="995082"/>
          </a:xfrm>
        </p:spPr>
        <p:txBody>
          <a:bodyPr>
            <a:normAutofit/>
          </a:bodyPr>
          <a:lstStyle/>
          <a:p>
            <a:r>
              <a:rPr lang="pl-PL" dirty="0"/>
              <a:t>Wykorzystane technologie</a:t>
            </a:r>
          </a:p>
        </p:txBody>
      </p:sp>
      <p:sp>
        <p:nvSpPr>
          <p:cNvPr id="3" name="Symbol zastępczy zawartości 2">
            <a:extLst>
              <a:ext uri="{FF2B5EF4-FFF2-40B4-BE49-F238E27FC236}">
                <a16:creationId xmlns:a16="http://schemas.microsoft.com/office/drawing/2014/main" id="{409C9A07-7A8F-825F-8CFB-ABEB9FDD0A67}"/>
              </a:ext>
            </a:extLst>
          </p:cNvPr>
          <p:cNvSpPr>
            <a:spLocks noGrp="1"/>
          </p:cNvSpPr>
          <p:nvPr>
            <p:ph idx="1"/>
          </p:nvPr>
        </p:nvSpPr>
        <p:spPr>
          <a:xfrm>
            <a:off x="143434" y="1362637"/>
            <a:ext cx="11905129" cy="5307104"/>
          </a:xfrm>
        </p:spPr>
        <p:txBody>
          <a:bodyPr/>
          <a:lstStyle/>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1634903737"/>
      </p:ext>
    </p:extLst>
  </p:cSld>
  <p:clrMapOvr>
    <a:masterClrMapping/>
  </p:clrMapOvr>
</p:sld>
</file>

<file path=ppt/theme/theme1.xml><?xml version="1.0" encoding="utf-8"?>
<a:theme xmlns:a="http://schemas.openxmlformats.org/drawingml/2006/main" name="Widok">
  <a:themeElements>
    <a:clrScheme name="Widok">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Widok">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Widok">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TM03457515[[fn=Widok]]</Template>
  <TotalTime>268</TotalTime>
  <Words>1093</Words>
  <Application>Microsoft Office PowerPoint</Application>
  <PresentationFormat>Panoramiczny</PresentationFormat>
  <Paragraphs>213</Paragraphs>
  <Slides>17</Slides>
  <Notes>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17</vt:i4>
      </vt:variant>
    </vt:vector>
  </HeadingPairs>
  <TitlesOfParts>
    <vt:vector size="21" baseType="lpstr">
      <vt:lpstr>Arial</vt:lpstr>
      <vt:lpstr>Century Schoolbook</vt:lpstr>
      <vt:lpstr>Wingdings 2</vt:lpstr>
      <vt:lpstr>Widok</vt:lpstr>
      <vt:lpstr>System dekoracji wnętrz z wykorzystaniem technologii wirtualnej rzeczywistości (VR)</vt:lpstr>
      <vt:lpstr>Wstęp – Dekoracja Wnętrz</vt:lpstr>
      <vt:lpstr>Wstęp – Wirtualna Rzeczywistość</vt:lpstr>
      <vt:lpstr>Cel pracy</vt:lpstr>
      <vt:lpstr>Implementacja Wirtualnej Rzeczywistości</vt:lpstr>
      <vt:lpstr>Płynne Poruszanie oraz Skokowy Obrót</vt:lpstr>
      <vt:lpstr>Interakcja z obiektami</vt:lpstr>
      <vt:lpstr>Uruchamianie bezpośrednio z gogli VR</vt:lpstr>
      <vt:lpstr>Generacja Pomieszczenia</vt:lpstr>
      <vt:lpstr>Tablet</vt:lpstr>
      <vt:lpstr>Tworzenie przedmiotów</vt:lpstr>
      <vt:lpstr>Interakcja z przedmiotami</vt:lpstr>
      <vt:lpstr>Zmiana wyglądu i koloru ścian</vt:lpstr>
      <vt:lpstr>Zmiana wyglądu i koloru ścian</vt:lpstr>
      <vt:lpstr>Obiekty stałe</vt:lpstr>
      <vt:lpstr>Dodatkowe ściany</vt:lpstr>
      <vt:lpstr>Wykorzystane technologie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GlitchedGuest Computer</dc:creator>
  <cp:lastModifiedBy>GlitchedGuest Computer</cp:lastModifiedBy>
  <cp:revision>41</cp:revision>
  <dcterms:created xsi:type="dcterms:W3CDTF">2025-11-25T14:03:19Z</dcterms:created>
  <dcterms:modified xsi:type="dcterms:W3CDTF">2025-12-07T20:42:42Z</dcterms:modified>
</cp:coreProperties>
</file>