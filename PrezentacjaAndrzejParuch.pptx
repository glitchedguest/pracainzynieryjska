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69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609601"/>
            <a:ext cx="8676222" cy="3200400"/>
          </a:xfrm>
        </p:spPr>
        <p:txBody>
          <a:bodyPr anchor="b">
            <a:normAutofit/>
          </a:bodyPr>
          <a:lstStyle>
            <a:lvl1pPr algn="ctr">
              <a:defRPr sz="48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76222" cy="1905000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l-PL"/>
              <a:t>Kliknij, aby edytować styl wzorca podtytułu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48904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ytuł i 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3984490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Nagłówek sekcj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51013" y="3308581"/>
            <a:ext cx="8686800" cy="1468800"/>
          </a:xfrm>
        </p:spPr>
        <p:txBody>
          <a:bodyPr anchor="b"/>
          <a:lstStyle>
            <a:lvl1pPr algn="r">
              <a:defRPr sz="40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51011" y="4777381"/>
            <a:ext cx="8686801" cy="860400"/>
          </a:xfrm>
        </p:spPr>
        <p:txBody>
          <a:bodyPr anchor="t">
            <a:normAutofit/>
          </a:bodyPr>
          <a:lstStyle>
            <a:lvl1pPr marL="0" indent="0" algn="r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9005578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wa elementy zawartośc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2" y="2666999"/>
            <a:ext cx="4876800" cy="3124201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0612" y="2667000"/>
            <a:ext cx="4876800" cy="312420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72449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Porówn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29280" y="2658533"/>
            <a:ext cx="4588931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2" y="3243262"/>
            <a:ext cx="4876800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43133" y="2667000"/>
            <a:ext cx="4604280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0612" y="3243262"/>
            <a:ext cx="4876801" cy="2547937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4857711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ylko tytu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84484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Pus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624936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Zawartość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3549121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03812" y="609601"/>
            <a:ext cx="5943601" cy="51816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3549121" cy="1828800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517613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Obraz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600200"/>
            <a:ext cx="5334001" cy="13716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33733" y="-18288"/>
            <a:ext cx="3276599" cy="690372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2971800"/>
            <a:ext cx="5334001" cy="1828800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399212" y="5883275"/>
            <a:ext cx="914400" cy="365125"/>
          </a:xfrm>
        </p:spPr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141412" y="5883275"/>
            <a:ext cx="5105400" cy="365125"/>
          </a:xfrm>
        </p:spPr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42612" y="5883275"/>
            <a:ext cx="322567" cy="365125"/>
          </a:xfrm>
        </p:spPr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519003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braz panoramiczny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4732865"/>
            <a:ext cx="99060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979612" y="932112"/>
            <a:ext cx="8225944" cy="3164976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pl-PL"/>
              <a:t>Kliknij ikonę, aby dodać obraz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3" y="5299603"/>
            <a:ext cx="9906000" cy="493712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7403576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ł i podp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3124199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4645088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ferta z podpise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9775257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3308581"/>
            <a:ext cx="9906000" cy="14688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0" y="4777381"/>
            <a:ext cx="9906001" cy="8604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0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0197154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rta nazwy cytat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836612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609601"/>
            <a:ext cx="9296398" cy="2743199"/>
          </a:xfrm>
        </p:spPr>
        <p:txBody>
          <a:bodyPr anchor="ctr">
            <a:normAutofit/>
          </a:bodyPr>
          <a:lstStyle>
            <a:lvl1pPr algn="l">
              <a:defRPr sz="32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886200"/>
            <a:ext cx="9906000" cy="889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775200"/>
            <a:ext cx="9906000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9978634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rawda lub fał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2" y="609601"/>
            <a:ext cx="9905999" cy="27431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141412" y="3505200"/>
            <a:ext cx="99060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pl-PL"/>
              <a:t>Kliknij, aby edytować style wzorca tekstu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343400"/>
            <a:ext cx="9906000" cy="14478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l-PL"/>
              <a:t>Kliknij, aby edytować style wzorca tekstu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8068391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ytuł i tekst pionow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11878426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ytuł pionowy i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6898" y="609599"/>
            <a:ext cx="2210514" cy="5181601"/>
          </a:xfrm>
        </p:spPr>
        <p:txBody>
          <a:bodyPr vert="eaVert"/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2" y="609600"/>
            <a:ext cx="7543800" cy="5181600"/>
          </a:xfrm>
        </p:spPr>
        <p:txBody>
          <a:bodyPr vert="eaVert" anchor="t"/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6108284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l-PL"/>
              <a:t>Kliknij, aby edytować styl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3" y="2666999"/>
            <a:ext cx="9905998" cy="312420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pl-PL"/>
              <a:t>Kliknij, aby edytować style wzorca tekstu</a:t>
            </a:r>
          </a:p>
          <a:p>
            <a:pPr lvl="1"/>
            <a:r>
              <a:rPr lang="pl-PL"/>
              <a:t>Drugi poziom</a:t>
            </a:r>
          </a:p>
          <a:p>
            <a:pPr lvl="2"/>
            <a:r>
              <a:rPr lang="pl-PL"/>
              <a:t>Trzeci poziom</a:t>
            </a:r>
          </a:p>
          <a:p>
            <a:pPr lvl="3"/>
            <a:r>
              <a:rPr lang="pl-PL"/>
              <a:t>Czwarty poziom</a:t>
            </a:r>
          </a:p>
          <a:p>
            <a:pPr lvl="4"/>
            <a:r>
              <a:rPr lang="pl-PL"/>
              <a:t>Piąty poziom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37612" y="5883275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BBFB598-B412-4BAA-8D00-58612E105D61}" type="datetimeFigureOut">
              <a:rPr lang="pl-PL" smtClean="0"/>
              <a:t>25.11.2025</a:t>
            </a:fld>
            <a:endParaRPr lang="pl-P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2" y="5883275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pl-P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2" y="5883275"/>
            <a:ext cx="5511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5533C443-48B8-4D1F-B151-33629DF77D65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063442135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20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8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6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4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CA40538-3C91-0285-6403-008E9845EB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3764" y="609601"/>
            <a:ext cx="11645153" cy="2250140"/>
          </a:xfrm>
        </p:spPr>
        <p:txBody>
          <a:bodyPr>
            <a:normAutofit/>
          </a:bodyPr>
          <a:lstStyle/>
          <a:p>
            <a:pPr algn="just"/>
            <a:r>
              <a:rPr lang="pl-PL" sz="3600" dirty="0"/>
              <a:t>System dekoracji wnętrz z wykorzystaniem technologii wirtualnej rzeczywistości (VR)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E745161-37A2-B311-6EF3-6BEF01FEB9C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011" y="3886200"/>
            <a:ext cx="10207905" cy="1905000"/>
          </a:xfrm>
        </p:spPr>
        <p:txBody>
          <a:bodyPr/>
          <a:lstStyle/>
          <a:p>
            <a:pPr algn="r"/>
            <a:r>
              <a:rPr lang="pl-PL" dirty="0"/>
              <a:t>Autor: Andrzej </a:t>
            </a:r>
            <a:r>
              <a:rPr lang="pl-PL" dirty="0" err="1"/>
              <a:t>Paruch</a:t>
            </a:r>
            <a:endParaRPr lang="pl-PL" dirty="0"/>
          </a:p>
          <a:p>
            <a:pPr algn="r"/>
            <a:r>
              <a:rPr lang="pl-PL" dirty="0"/>
              <a:t>Nr indeksu: 136606</a:t>
            </a:r>
          </a:p>
          <a:p>
            <a:pPr algn="r"/>
            <a:r>
              <a:rPr lang="pl-PL" dirty="0"/>
              <a:t>Promotor: </a:t>
            </a:r>
            <a:r>
              <a:rPr lang="de-DE" dirty="0" err="1"/>
              <a:t>dr</a:t>
            </a:r>
            <a:r>
              <a:rPr lang="de-DE" dirty="0"/>
              <a:t> hab. </a:t>
            </a:r>
            <a:r>
              <a:rPr lang="de-DE" dirty="0" err="1"/>
              <a:t>inż</a:t>
            </a:r>
            <a:r>
              <a:rPr lang="de-DE" dirty="0"/>
              <a:t>. prof. </a:t>
            </a:r>
            <a:r>
              <a:rPr lang="de-DE" dirty="0" err="1"/>
              <a:t>PCz</a:t>
            </a:r>
            <a:r>
              <a:rPr lang="pl-PL" dirty="0"/>
              <a:t> Krystian Łapa</a:t>
            </a:r>
          </a:p>
        </p:txBody>
      </p:sp>
    </p:spTree>
    <p:extLst>
      <p:ext uri="{BB962C8B-B14F-4D97-AF65-F5344CB8AC3E}">
        <p14:creationId xmlns:p14="http://schemas.microsoft.com/office/powerpoint/2010/main" val="1734390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5D3C0E-076B-3A57-7825-4D74952B4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Dekoracja Wnętrz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1C283A6-727F-B5EB-5A2D-06AD50C05D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Program do projektowania wnętrz to narzędzie do wizualizacji i aranżacji pomieszczeń w 3D i 2D. Za pomocą takich aplikacji można zaplanować układ pomieszczenia, mebli, czy ścian. Są bardzo pomocne przy planowaniu remontów, czy budowy domu. Ich wielką zaletą jest dokładność i precyzja wizualizacji, która pozwala na dokładne odwzorowanie rzeczywistości. Oferują dużą funkcjonalność i sporą bazę gotowych rozwiązań, aczkolwiek przez to ich obsługa jest skomplikowana i wymagająca wielogodzinnej nauki.</a:t>
            </a:r>
          </a:p>
          <a:p>
            <a:pPr marL="0" indent="0">
              <a:buNone/>
            </a:pPr>
            <a:r>
              <a:rPr lang="pl-PL" sz="1400" dirty="0"/>
              <a:t>Porównania podobnych rozwiązań: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95B1D090-ACAB-9825-85C3-B534E9DAFD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0620787"/>
              </p:ext>
            </p:extLst>
          </p:nvPr>
        </p:nvGraphicFramePr>
        <p:xfrm>
          <a:off x="143432" y="2680447"/>
          <a:ext cx="11905127" cy="399909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379963">
                  <a:extLst>
                    <a:ext uri="{9D8B030D-6E8A-4147-A177-3AD203B41FA5}">
                      <a16:colId xmlns:a16="http://schemas.microsoft.com/office/drawing/2014/main" val="121564756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1898770979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467455197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2165750682"/>
                    </a:ext>
                  </a:extLst>
                </a:gridCol>
                <a:gridCol w="2381291">
                  <a:extLst>
                    <a:ext uri="{9D8B030D-6E8A-4147-A177-3AD203B41FA5}">
                      <a16:colId xmlns:a16="http://schemas.microsoft.com/office/drawing/2014/main" val="4036706159"/>
                    </a:ext>
                  </a:extLst>
                </a:gridCol>
              </a:tblGrid>
              <a:tr h="229505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Nazwa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płatności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Cena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Forma Wizualizacji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Oferowane Usługi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23430035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Homestyler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Abonament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Darmowy/$19.6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Duża baza mebli, Konwertowanie planow 2D na 3D, Prezentacja VR, Moduł AI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098198958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 err="1">
                          <a:effectLst/>
                        </a:rPr>
                        <a:t>Sweet</a:t>
                      </a:r>
                      <a:r>
                        <a:rPr lang="pl-PL" sz="1100" dirty="0">
                          <a:effectLst/>
                        </a:rPr>
                        <a:t> Home 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-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Spora biblioteka mebli, możliwość tworzenia własnych wtyczek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1369130517"/>
                  </a:ext>
                </a:extLst>
              </a:tr>
              <a:tr h="101605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Sketch Up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Zakup licencji na rok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1 786,73 zł-5 136 zł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Tworzenie modeli w oparciu o zdjęcia, Baza wtyczek do programu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768092719"/>
                  </a:ext>
                </a:extLst>
              </a:tr>
              <a:tr h="75391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Live Home 3D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Darmowy/$99.99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  <a:latin typeface="Arial" panose="020B0604020202020204" pitchFamily="34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2D/3D</a:t>
                      </a: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Baza gotowych modeli, importowanie własnych modeli, Dostępne na urządzenia mobilne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2407908265"/>
                  </a:ext>
                </a:extLst>
              </a:tr>
              <a:tr h="491778"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p.Con planner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Zakup Jednorazowy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>
                          <a:effectLst/>
                        </a:rPr>
                        <a:t>Darmowy/19 999 zl</a:t>
                      </a:r>
                      <a:endParaRPr lang="pl-PL" sz="11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2D/3D/VR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50000"/>
                        </a:lnSpc>
                        <a:buNone/>
                      </a:pPr>
                      <a:r>
                        <a:rPr lang="pl-PL" sz="1100" dirty="0">
                          <a:effectLst/>
                        </a:rPr>
                        <a:t>Baza gotowych modeli, Wtyczka VR</a:t>
                      </a:r>
                      <a:endParaRPr lang="pl-PL" sz="11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5291" marR="25291" marT="0" marB="0"/>
                </a:tc>
                <a:extLst>
                  <a:ext uri="{0D108BD9-81ED-4DB2-BD59-A6C34878D82A}">
                    <a16:rowId xmlns:a16="http://schemas.microsoft.com/office/drawing/2014/main" val="38720651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343400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95AA1-20F1-C00D-89C8-8B03690B0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B864EDC4-F17F-2865-AC10-6C1BA8006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435" y="367554"/>
            <a:ext cx="11905130" cy="995082"/>
          </a:xfrm>
        </p:spPr>
        <p:txBody>
          <a:bodyPr/>
          <a:lstStyle/>
          <a:p>
            <a:r>
              <a:rPr lang="pl-PL" dirty="0"/>
              <a:t>Wstęp – Wirtualna rzeczywistość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D179727-D455-3887-E97B-7DCE0D82CB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3434" y="1362637"/>
            <a:ext cx="11905129" cy="5307104"/>
          </a:xfrm>
        </p:spPr>
        <p:txBody>
          <a:bodyPr/>
          <a:lstStyle/>
          <a:p>
            <a:pPr marL="0" indent="0">
              <a:buNone/>
            </a:pPr>
            <a:r>
              <a:rPr lang="pl-PL" sz="1400" dirty="0"/>
              <a:t>Rzeczywistość wirtualna to obraz sztucznej rzeczywistości stworzony przy wykorzystaniu technologii informatycznej. Polega na multimedialnym kreowaniu komputerowej wizji przedmiotów, przestrzeni i zdarzeń. Może on reprezentować zarówno elementy świata realnego, jak i zupełnie fikcyjnego. Najważniejszym elementem tej technologii jest interakcja z wirtualnym środowiskiem oparta o ruch użytkownika. Jest ona używana do wizualizacji, gdzie użytkownik w pierwszej osobie może </a:t>
            </a:r>
            <a:r>
              <a:rPr lang="pl-PL" sz="1400"/>
              <a:t>obejrzeć projekt. </a:t>
            </a:r>
            <a:endParaRPr lang="pl-PL" sz="1400" dirty="0"/>
          </a:p>
          <a:p>
            <a:pPr marL="0" indent="0">
              <a:buNone/>
            </a:pPr>
            <a:r>
              <a:rPr lang="pl-PL" sz="1400" dirty="0"/>
              <a:t>Spis zestawów VR:</a:t>
            </a:r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  <a:p>
            <a:pPr marL="0" indent="0">
              <a:buNone/>
            </a:pPr>
            <a:endParaRPr lang="pl-PL" dirty="0"/>
          </a:p>
        </p:txBody>
      </p:sp>
      <p:graphicFrame>
        <p:nvGraphicFramePr>
          <p:cNvPr id="4" name="Tabela 3">
            <a:extLst>
              <a:ext uri="{FF2B5EF4-FFF2-40B4-BE49-F238E27FC236}">
                <a16:creationId xmlns:a16="http://schemas.microsoft.com/office/drawing/2014/main" id="{290F22CC-A695-CAE5-D03C-7BC5B13E9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2764257"/>
              </p:ext>
            </p:extLst>
          </p:nvPr>
        </p:nvGraphicFramePr>
        <p:xfrm>
          <a:off x="143431" y="2698376"/>
          <a:ext cx="11905129" cy="397136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297412">
                  <a:extLst>
                    <a:ext uri="{9D8B030D-6E8A-4147-A177-3AD203B41FA5}">
                      <a16:colId xmlns:a16="http://schemas.microsoft.com/office/drawing/2014/main" val="3667982810"/>
                    </a:ext>
                  </a:extLst>
                </a:gridCol>
                <a:gridCol w="1804692">
                  <a:extLst>
                    <a:ext uri="{9D8B030D-6E8A-4147-A177-3AD203B41FA5}">
                      <a16:colId xmlns:a16="http://schemas.microsoft.com/office/drawing/2014/main" val="8836512"/>
                    </a:ext>
                  </a:extLst>
                </a:gridCol>
                <a:gridCol w="953474">
                  <a:extLst>
                    <a:ext uri="{9D8B030D-6E8A-4147-A177-3AD203B41FA5}">
                      <a16:colId xmlns:a16="http://schemas.microsoft.com/office/drawing/2014/main" val="2925828577"/>
                    </a:ext>
                  </a:extLst>
                </a:gridCol>
                <a:gridCol w="1815315">
                  <a:extLst>
                    <a:ext uri="{9D8B030D-6E8A-4147-A177-3AD203B41FA5}">
                      <a16:colId xmlns:a16="http://schemas.microsoft.com/office/drawing/2014/main" val="3971175562"/>
                    </a:ext>
                  </a:extLst>
                </a:gridCol>
                <a:gridCol w="1735637">
                  <a:extLst>
                    <a:ext uri="{9D8B030D-6E8A-4147-A177-3AD203B41FA5}">
                      <a16:colId xmlns:a16="http://schemas.microsoft.com/office/drawing/2014/main" val="3421818127"/>
                    </a:ext>
                  </a:extLst>
                </a:gridCol>
                <a:gridCol w="1331942">
                  <a:extLst>
                    <a:ext uri="{9D8B030D-6E8A-4147-A177-3AD203B41FA5}">
                      <a16:colId xmlns:a16="http://schemas.microsoft.com/office/drawing/2014/main" val="1681559505"/>
                    </a:ext>
                  </a:extLst>
                </a:gridCol>
                <a:gridCol w="2072940">
                  <a:extLst>
                    <a:ext uri="{9D8B030D-6E8A-4147-A177-3AD203B41FA5}">
                      <a16:colId xmlns:a16="http://schemas.microsoft.com/office/drawing/2014/main" val="239348676"/>
                    </a:ext>
                  </a:extLst>
                </a:gridCol>
                <a:gridCol w="893717">
                  <a:extLst>
                    <a:ext uri="{9D8B030D-6E8A-4147-A177-3AD203B41FA5}">
                      <a16:colId xmlns:a16="http://schemas.microsoft.com/office/drawing/2014/main" val="4161427337"/>
                    </a:ext>
                  </a:extLst>
                </a:gridCol>
              </a:tblGrid>
              <a:tr h="308983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Nazwa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Typ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Cena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Rozdzielczość na oko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Odświerzanie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CPU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Kontrolery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Bateria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68281251"/>
                  </a:ext>
                </a:extLst>
              </a:tr>
              <a:tr h="136759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Meta Quest 3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$499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2064x2208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Octa-core Kryo (1 x 3.19 GHz, 4 x 2.8 GHz, 3 x 2.0 GHz)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Meta Quest Touch Plus Controllers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2.2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2995885317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Samsung Galaxy XR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Autonomiczne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$2048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3552x3840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90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Snapdragon XR2+ Gen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Samsung Galaxy XR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h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280808134"/>
                  </a:ext>
                </a:extLst>
              </a:tr>
              <a:tr h="309064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Valve Index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Wymagają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$999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1440x1600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144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 x Index Controller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4172636155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Apple Vision Pro M5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Autonomiczne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$3499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3660x3200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120 </a:t>
                      </a:r>
                      <a:r>
                        <a:rPr lang="pl-PL" sz="1200" dirty="0" err="1">
                          <a:effectLst/>
                        </a:rPr>
                        <a:t>Hz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10-core (4 x 4.6 GHz, 6 x 3.0 GHz)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 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2.5 h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840387838"/>
                  </a:ext>
                </a:extLst>
              </a:tr>
              <a:tr h="661908"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Playstation VR 2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Wymagany PC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$399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2000X2040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>
                          <a:effectLst/>
                        </a:rPr>
                        <a:t>120 Hz</a:t>
                      </a:r>
                      <a:endParaRPr lang="pl-PL" sz="120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2 x </a:t>
                      </a:r>
                      <a:r>
                        <a:rPr lang="pl-PL" sz="1200" dirty="0" err="1">
                          <a:effectLst/>
                        </a:rPr>
                        <a:t>Playstation</a:t>
                      </a:r>
                      <a:r>
                        <a:rPr lang="pl-PL" sz="1200" dirty="0">
                          <a:effectLst/>
                        </a:rPr>
                        <a:t> VR2 </a:t>
                      </a:r>
                      <a:r>
                        <a:rPr lang="pl-PL" sz="1200" dirty="0" err="1">
                          <a:effectLst/>
                        </a:rPr>
                        <a:t>Sense</a:t>
                      </a:r>
                      <a:r>
                        <a:rPr lang="pl-PL" sz="1200" dirty="0">
                          <a:effectLst/>
                        </a:rPr>
                        <a:t> </a:t>
                      </a:r>
                      <a:r>
                        <a:rPr lang="pl-PL" sz="1200" dirty="0" err="1">
                          <a:effectLst/>
                        </a:rPr>
                        <a:t>Controlle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50000"/>
                        </a:lnSpc>
                        <a:buNone/>
                      </a:pPr>
                      <a:r>
                        <a:rPr lang="pl-PL" sz="1200" dirty="0">
                          <a:effectLst/>
                        </a:rPr>
                        <a:t> </a:t>
                      </a:r>
                      <a:endParaRPr lang="pl-PL" sz="1200" dirty="0">
                        <a:effectLst/>
                        <a:latin typeface="Arial" panose="020B060402020202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27488" marR="27488" marT="0" marB="0"/>
                </a:tc>
                <a:extLst>
                  <a:ext uri="{0D108BD9-81ED-4DB2-BD59-A6C34878D82A}">
                    <a16:rowId xmlns:a16="http://schemas.microsoft.com/office/drawing/2014/main" val="18810993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653780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iatka">
  <a:themeElements>
    <a:clrScheme name="Siatka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Siatka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Siatk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TM03457485[[fn=Siatka]]</Template>
  <TotalTime>52</TotalTime>
  <Words>440</Words>
  <Application>Microsoft Office PowerPoint</Application>
  <PresentationFormat>Panoramiczny</PresentationFormat>
  <Paragraphs>102</Paragraphs>
  <Slides>3</Slides>
  <Notes>0</Notes>
  <HiddenSlides>0</HiddenSlides>
  <MMClips>0</MMClips>
  <ScaleCrop>false</ScaleCrop>
  <HeadingPairs>
    <vt:vector size="6" baseType="variant">
      <vt:variant>
        <vt:lpstr>Używane czcionki</vt:lpstr>
      </vt:variant>
      <vt:variant>
        <vt:i4>2</vt:i4>
      </vt:variant>
      <vt:variant>
        <vt:lpstr>Motyw</vt:lpstr>
      </vt:variant>
      <vt:variant>
        <vt:i4>1</vt:i4>
      </vt:variant>
      <vt:variant>
        <vt:lpstr>Tytuły slajdów</vt:lpstr>
      </vt:variant>
      <vt:variant>
        <vt:i4>3</vt:i4>
      </vt:variant>
    </vt:vector>
  </HeadingPairs>
  <TitlesOfParts>
    <vt:vector size="6" baseType="lpstr">
      <vt:lpstr>Arial</vt:lpstr>
      <vt:lpstr>Century Gothic</vt:lpstr>
      <vt:lpstr>Siatka</vt:lpstr>
      <vt:lpstr>System dekoracji wnętrz z wykorzystaniem technologii wirtualnej rzeczywistości (VR)</vt:lpstr>
      <vt:lpstr>Wstęp – Dekoracja Wnętrz</vt:lpstr>
      <vt:lpstr>Wstęp – Wirtualna rzeczywistość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GlitchedGuest Computer</dc:creator>
  <cp:lastModifiedBy>GlitchedGuest Computer</cp:lastModifiedBy>
  <cp:revision>12</cp:revision>
  <dcterms:created xsi:type="dcterms:W3CDTF">2025-11-25T14:03:19Z</dcterms:created>
  <dcterms:modified xsi:type="dcterms:W3CDTF">2025-11-25T14:59:55Z</dcterms:modified>
</cp:coreProperties>
</file>