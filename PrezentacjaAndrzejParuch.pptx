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1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8904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8449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005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7244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5771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844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249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761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00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0357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6450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7525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9715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 cyta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978634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wda lub fał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6839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8784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10828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BBFB598-B412-4BAA-8D00-58612E105D61}" type="datetimeFigureOut">
              <a:rPr lang="pl-PL" smtClean="0"/>
              <a:t>26.11.2025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634421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40538-3C91-0285-6403-008E9845E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764" y="609601"/>
            <a:ext cx="11645153" cy="2250140"/>
          </a:xfrm>
        </p:spPr>
        <p:txBody>
          <a:bodyPr>
            <a:normAutofit/>
          </a:bodyPr>
          <a:lstStyle/>
          <a:p>
            <a:pPr algn="just"/>
            <a:r>
              <a:rPr lang="pl-PL" sz="3600" dirty="0"/>
              <a:t>System dekoracji wnętrz z wykorzystaniem technologii wirtualnej rzeczywistości (VR)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E745161-37A2-B311-6EF3-6BEF01FEB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1" y="3886200"/>
            <a:ext cx="10207905" cy="1905000"/>
          </a:xfrm>
        </p:spPr>
        <p:txBody>
          <a:bodyPr/>
          <a:lstStyle/>
          <a:p>
            <a:pPr algn="r"/>
            <a:r>
              <a:rPr lang="pl-PL" dirty="0"/>
              <a:t>Autor: Andrzej </a:t>
            </a:r>
            <a:r>
              <a:rPr lang="pl-PL" dirty="0" err="1"/>
              <a:t>Paruch</a:t>
            </a:r>
            <a:endParaRPr lang="pl-PL" dirty="0"/>
          </a:p>
          <a:p>
            <a:pPr algn="r"/>
            <a:r>
              <a:rPr lang="pl-PL" dirty="0"/>
              <a:t>Nr indeksu: 136606</a:t>
            </a:r>
          </a:p>
          <a:p>
            <a:pPr algn="r"/>
            <a:r>
              <a:rPr lang="pl-PL" dirty="0"/>
              <a:t>Promotor: </a:t>
            </a:r>
            <a:r>
              <a:rPr lang="de-DE" dirty="0" err="1"/>
              <a:t>dr</a:t>
            </a:r>
            <a:r>
              <a:rPr lang="de-DE" dirty="0"/>
              <a:t> hab. </a:t>
            </a:r>
            <a:r>
              <a:rPr lang="de-DE" dirty="0" err="1"/>
              <a:t>inż</a:t>
            </a:r>
            <a:r>
              <a:rPr lang="de-DE" dirty="0"/>
              <a:t>. prof. </a:t>
            </a:r>
            <a:r>
              <a:rPr lang="de-DE" dirty="0" err="1"/>
              <a:t>PCz</a:t>
            </a:r>
            <a:r>
              <a:rPr lang="pl-PL" dirty="0"/>
              <a:t> Krystian Łapa</a:t>
            </a:r>
          </a:p>
        </p:txBody>
      </p:sp>
    </p:spTree>
    <p:extLst>
      <p:ext uri="{BB962C8B-B14F-4D97-AF65-F5344CB8AC3E}">
        <p14:creationId xmlns:p14="http://schemas.microsoft.com/office/powerpoint/2010/main" val="1734390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5D3C0E-076B-3A57-7825-4D74952B4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Dekoracja Wnętrz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1C283A6-727F-B5EB-5A2D-06AD50C0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Program do projektowania wnętrz to narzędzie do wizualizacji i aranżacji pomieszczeń w 3D i 2D. Za pomocą takich aplikacji można zaplanować układ pomieszczenia, mebli, czy ścian. Są bardzo pomocne przy planowaniu remontów, czy budowy domu. Ich wielką zaletą jest dokładność i precyzja wizualizacji, która pozwala na dokładne odwzorowanie rzeczywistości. Oferują dużą funkcjonalność i sporą bazę gotowych rozwiązań, aczkolwiek przez to ich obsługa jest skomplikowana i wymagająca wielogodzinnej nauki.</a:t>
            </a:r>
          </a:p>
          <a:p>
            <a:pPr marL="0" indent="0">
              <a:buNone/>
            </a:pPr>
            <a:r>
              <a:rPr lang="pl-PL" sz="1400" dirty="0"/>
              <a:t>Porównania podobnych rozwiązań: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5B1D090-ACAB-9825-85C3-B534E9DAF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620787"/>
              </p:ext>
            </p:extLst>
          </p:nvPr>
        </p:nvGraphicFramePr>
        <p:xfrm>
          <a:off x="143432" y="2680447"/>
          <a:ext cx="11905127" cy="39990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79963">
                  <a:extLst>
                    <a:ext uri="{9D8B030D-6E8A-4147-A177-3AD203B41FA5}">
                      <a16:colId xmlns:a16="http://schemas.microsoft.com/office/drawing/2014/main" val="121564756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1898770979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467455197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2165750682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4036706159"/>
                    </a:ext>
                  </a:extLst>
                </a:gridCol>
              </a:tblGrid>
              <a:tr h="22950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Nazwa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płatności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Cena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Wizualizacji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Oferowane Usługi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23430035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Homestyler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Abonament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Darmowy/$19.6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Duża baza mebli, Konwertowanie planow 2D na 3D, Prezentacja VR, Moduł AI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098198958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 err="1">
                          <a:effectLst/>
                        </a:rPr>
                        <a:t>Sweet</a:t>
                      </a:r>
                      <a:r>
                        <a:rPr lang="pl-PL" sz="1100" dirty="0">
                          <a:effectLst/>
                        </a:rPr>
                        <a:t> Home 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-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Spora biblioteka mebli, możliwość tworzenia własnych wtyczek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1369130517"/>
                  </a:ext>
                </a:extLst>
              </a:tr>
              <a:tr h="101605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Sketch Up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Zakup licencji na rok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1 786,73 zł-5 136 zł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Tworzenie modeli w oparciu o zdjęcia, Baza wtyczek do programu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68092719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Live Home 3D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Darmowy/$99.99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2D/3D</a:t>
                      </a: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importowanie własnych modeli, Dostępne na urządzenia mobilne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407908265"/>
                  </a:ext>
                </a:extLst>
              </a:tr>
              <a:tr h="49177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p.Con planner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Darmowy/19 999 zl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Baza gotowych modeli, Wtyczka 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872065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434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95AA1-20F1-C00D-89C8-8B03690B0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64EDC4-F17F-2865-AC10-6C1BA8006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Wirtualna rzeczywistość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D179727-D455-3887-E97B-7DCE0D82C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Rzeczywistość wirtualna to obraz sztucznej rzeczywistości stworzony przy wykorzystaniu technologii informatycznej. Polega na multimedialnym kreowaniu komputerowej wizji przedmiotów, przestrzeni i zdarzeń. Może on reprezentować zarówno elementy świata realnego, jak i zupełnie fikcyjnego. Najważniejszym elementem tej technologii jest interakcja z wirtualnym środowiskiem oparta o ruch użytkownika. Jest ona używana do wizualizacji, gdzie użytkownik w pierwszej osobie może </a:t>
            </a:r>
            <a:r>
              <a:rPr lang="pl-PL" sz="1400"/>
              <a:t>obejrzeć projekt. </a:t>
            </a:r>
            <a:endParaRPr lang="pl-PL" sz="1400" dirty="0"/>
          </a:p>
          <a:p>
            <a:pPr marL="0" indent="0">
              <a:buNone/>
            </a:pPr>
            <a:r>
              <a:rPr lang="pl-PL" sz="1400" dirty="0"/>
              <a:t>Spis zestawów VR: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90F22CC-A695-CAE5-D03C-7BC5B13E9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64257"/>
              </p:ext>
            </p:extLst>
          </p:nvPr>
        </p:nvGraphicFramePr>
        <p:xfrm>
          <a:off x="143431" y="2698376"/>
          <a:ext cx="11905129" cy="39713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97412">
                  <a:extLst>
                    <a:ext uri="{9D8B030D-6E8A-4147-A177-3AD203B41FA5}">
                      <a16:colId xmlns:a16="http://schemas.microsoft.com/office/drawing/2014/main" val="3667982810"/>
                    </a:ext>
                  </a:extLst>
                </a:gridCol>
                <a:gridCol w="1804692">
                  <a:extLst>
                    <a:ext uri="{9D8B030D-6E8A-4147-A177-3AD203B41FA5}">
                      <a16:colId xmlns:a16="http://schemas.microsoft.com/office/drawing/2014/main" val="8836512"/>
                    </a:ext>
                  </a:extLst>
                </a:gridCol>
                <a:gridCol w="953474">
                  <a:extLst>
                    <a:ext uri="{9D8B030D-6E8A-4147-A177-3AD203B41FA5}">
                      <a16:colId xmlns:a16="http://schemas.microsoft.com/office/drawing/2014/main" val="2925828577"/>
                    </a:ext>
                  </a:extLst>
                </a:gridCol>
                <a:gridCol w="1815315">
                  <a:extLst>
                    <a:ext uri="{9D8B030D-6E8A-4147-A177-3AD203B41FA5}">
                      <a16:colId xmlns:a16="http://schemas.microsoft.com/office/drawing/2014/main" val="3971175562"/>
                    </a:ext>
                  </a:extLst>
                </a:gridCol>
                <a:gridCol w="1735637">
                  <a:extLst>
                    <a:ext uri="{9D8B030D-6E8A-4147-A177-3AD203B41FA5}">
                      <a16:colId xmlns:a16="http://schemas.microsoft.com/office/drawing/2014/main" val="3421818127"/>
                    </a:ext>
                  </a:extLst>
                </a:gridCol>
                <a:gridCol w="1331942">
                  <a:extLst>
                    <a:ext uri="{9D8B030D-6E8A-4147-A177-3AD203B41FA5}">
                      <a16:colId xmlns:a16="http://schemas.microsoft.com/office/drawing/2014/main" val="1681559505"/>
                    </a:ext>
                  </a:extLst>
                </a:gridCol>
                <a:gridCol w="2072940">
                  <a:extLst>
                    <a:ext uri="{9D8B030D-6E8A-4147-A177-3AD203B41FA5}">
                      <a16:colId xmlns:a16="http://schemas.microsoft.com/office/drawing/2014/main" val="239348676"/>
                    </a:ext>
                  </a:extLst>
                </a:gridCol>
                <a:gridCol w="893717">
                  <a:extLst>
                    <a:ext uri="{9D8B030D-6E8A-4147-A177-3AD203B41FA5}">
                      <a16:colId xmlns:a16="http://schemas.microsoft.com/office/drawing/2014/main" val="4161427337"/>
                    </a:ext>
                  </a:extLst>
                </a:gridCol>
              </a:tblGrid>
              <a:tr h="30898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Nazwa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Typ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Cena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Rozdzielczość na oko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Odświerzanie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CPU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Kontrolery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Bateria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68281251"/>
                  </a:ext>
                </a:extLst>
              </a:tr>
              <a:tr h="136759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Meta Quest 3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$499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2064x2208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Octa-core Kryo (1 x 3.19 GHz, 4 x 2.8 GHz, 3 x 2.0 GHz)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Meta Quest Touch Plus Controllers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2.2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2995885317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Samsung Galaxy XR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Autonomiczne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$2048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3552x3840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90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Snapdragon XR2+ Gen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Samsung Galaxy XR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h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280808134"/>
                  </a:ext>
                </a:extLst>
              </a:tr>
              <a:tr h="30906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Valve Index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Wymagają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$999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1440x1600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144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Index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4172636155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Apple Vision Pro M5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$3499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3660x3200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120 </a:t>
                      </a:r>
                      <a:r>
                        <a:rPr lang="pl-PL" sz="1200" dirty="0" err="1">
                          <a:effectLst/>
                        </a:rPr>
                        <a:t>Hz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10-core (4 x 4.6 GHz, 6 x 3.0 GHz)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2.5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840387838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Playstation VR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Wymagany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2000X2040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x </a:t>
                      </a:r>
                      <a:r>
                        <a:rPr lang="pl-PL" sz="1200" dirty="0" err="1">
                          <a:effectLst/>
                        </a:rPr>
                        <a:t>Playstation</a:t>
                      </a:r>
                      <a:r>
                        <a:rPr lang="pl-PL" sz="1200" dirty="0">
                          <a:effectLst/>
                        </a:rPr>
                        <a:t> VR2 </a:t>
                      </a:r>
                      <a:r>
                        <a:rPr lang="pl-PL" sz="1200" dirty="0" err="1">
                          <a:effectLst/>
                        </a:rPr>
                        <a:t>Sense</a:t>
                      </a:r>
                      <a:r>
                        <a:rPr lang="pl-PL" sz="1200" dirty="0">
                          <a:effectLst/>
                        </a:rPr>
                        <a:t> </a:t>
                      </a:r>
                      <a:r>
                        <a:rPr lang="pl-PL" sz="1200" dirty="0" err="1">
                          <a:effectLst/>
                        </a:rPr>
                        <a:t>Controlle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881099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537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E1B0B1-64E3-AE43-9E4E-484168DA1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D20FD28-C824-6802-44C4-61ADCC31F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Cel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0B5AD0F-5625-E6AE-87EA-335E4C52A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>
            <a:normAutofit fontScale="40000" lnSpcReduction="20000"/>
          </a:bodyPr>
          <a:lstStyle/>
          <a:p>
            <a:pPr marL="0" indent="0" algn="just">
              <a:buNone/>
            </a:pPr>
            <a:endParaRPr lang="pl-PL" dirty="0"/>
          </a:p>
          <a:p>
            <a:pPr marL="0" indent="0" algn="just">
              <a:buNone/>
            </a:pPr>
            <a:endParaRPr lang="pl-PL" dirty="0"/>
          </a:p>
          <a:p>
            <a:pPr marL="0" indent="0" algn="just">
              <a:buNone/>
            </a:pPr>
            <a:endParaRPr lang="pl-PL" dirty="0"/>
          </a:p>
          <a:p>
            <a:pPr marL="0" indent="0" algn="just">
              <a:buNone/>
            </a:pPr>
            <a:endParaRPr lang="pl-PL" dirty="0"/>
          </a:p>
          <a:p>
            <a:pPr marL="0" indent="0" algn="just">
              <a:buNone/>
            </a:pPr>
            <a:r>
              <a:rPr lang="pl-PL" sz="4400" dirty="0"/>
              <a:t>Celem pracy jest opracowanie systemu do projektowania wnętrz, który wykorzysta technologię wirtualnej rzeczywistości. Obsługa całego programu ma być oparta o fizyczną interakcje za pośrednictwem kontrolerów śledzących ruch dłoni. Proces projektowania wnętrza będzie całkowicie wewnątrz wirtualnej rzeczywistości.</a:t>
            </a:r>
          </a:p>
          <a:p>
            <a:pPr marL="0" indent="0" algn="just">
              <a:buNone/>
            </a:pPr>
            <a:endParaRPr lang="pl-PL" sz="4400" dirty="0"/>
          </a:p>
          <a:p>
            <a:pPr marL="0" indent="0" algn="just">
              <a:buNone/>
            </a:pPr>
            <a:endParaRPr lang="pl-PL" sz="4400" dirty="0"/>
          </a:p>
          <a:p>
            <a:pPr marL="0" indent="0" algn="just">
              <a:buNone/>
            </a:pPr>
            <a:endParaRPr lang="pl-PL" sz="4400" dirty="0"/>
          </a:p>
          <a:p>
            <a:pPr marL="0" indent="0" algn="just">
              <a:buNone/>
            </a:pPr>
            <a:r>
              <a:rPr lang="pl-PL" sz="4400" dirty="0"/>
              <a:t>Podstawowe funkcjonalności</a:t>
            </a:r>
          </a:p>
          <a:p>
            <a:pPr algn="just"/>
            <a:r>
              <a:rPr lang="pl-PL" sz="4400" dirty="0"/>
              <a:t>Generacja pomieszczeń na podstawie wymagań użytkownika</a:t>
            </a:r>
          </a:p>
          <a:p>
            <a:pPr algn="just"/>
            <a:r>
              <a:rPr lang="pl-PL" sz="4400" dirty="0"/>
              <a:t>Tworzenie i interakcja z przedmiotami</a:t>
            </a:r>
          </a:p>
          <a:p>
            <a:pPr algn="just"/>
            <a:r>
              <a:rPr lang="pl-PL" sz="4400" dirty="0"/>
              <a:t>Zmiana wyglądu i koloru ścian</a:t>
            </a:r>
          </a:p>
          <a:p>
            <a:pPr algn="just"/>
            <a:r>
              <a:rPr lang="pl-PL" sz="4400" dirty="0"/>
              <a:t>Tworzenie dodatkowych ścian</a:t>
            </a:r>
          </a:p>
          <a:p>
            <a:pPr algn="just"/>
            <a:r>
              <a:rPr lang="pl-PL" sz="4400" dirty="0"/>
              <a:t>Tworzenie stałych obiektów</a:t>
            </a:r>
          </a:p>
          <a:p>
            <a:pPr algn="just"/>
            <a:r>
              <a:rPr lang="pl-PL" sz="4400" dirty="0"/>
              <a:t>Podgląd z lotu ptaka</a:t>
            </a:r>
          </a:p>
          <a:p>
            <a:pPr marL="0" indent="0" algn="just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3478972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A3518-21B2-8591-7AC6-F00911F52B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F366E2D-3434-BC7B-D652-A7186A18F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Generacja Pomieszczenia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305A406-9550-27C8-41B7-2FCD30F1BA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244205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0911E-E0E7-EF43-E309-ACDF7D7FD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E8ED127B-AD6D-C9C6-F7F0-4A76E9515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Tablet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5BB6030-4126-2214-1019-37021E5A6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751241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FB05C-8B88-A0E8-5A83-083B979E1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960820-2062-6601-9318-8725A7015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Tworzenie przedmiotów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6EBFDA-A13A-B307-3AA6-DD00420FFE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865485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432F2A-4009-B66D-7FB5-31559E0AE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8E4E4B9-5E68-8EE5-1DF8-9E82B8527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Interakcja z przedmiotami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C81E2E9-A1E2-3787-B88D-4E0A6192A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41406156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4B670-7A59-F936-F5D4-75ACA00B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4E040E7-EA21-DC9F-064F-AE717ABEA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Zmiana wyglądu i koloru ścian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66EB9B4-4311-AB1E-3C3B-0A12562587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04300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F590-C65D-C1CF-1DD6-56EF3BE64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FBB3207-A47E-9EE6-D2AA-6A55D22BD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Zmiana wyglądu i koloru ścian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D73DA4-AF9A-9B28-B2A4-C3B900191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8426500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51DDD-1597-6C38-166B-09205BA56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1E687-2FF5-8160-92DA-2E0D6FC27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Obiekty stałe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03976B0-51BE-1750-6FF0-FA734ABD1A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758894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56926-C810-97BF-C306-FEF832B9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B8483EB-9952-4746-CF66-BBD21DEE1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Dodatkowe ściany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92D018-B3F3-5BE0-495B-BF23D4EE74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2277225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0AB7F-0069-FDB5-26E7-693E13ACD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16E610F-F4B0-9977-B875-B9F774F7C7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>
            <a:normAutofit/>
          </a:bodyPr>
          <a:lstStyle/>
          <a:p>
            <a:r>
              <a:rPr lang="pl-PL" dirty="0"/>
              <a:t>Wykorzystane technologie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09C9A07-7A8F-825F-8CFB-ABEB9FDD0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6349037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iatka">
  <a:themeElements>
    <a:clrScheme name="Siatk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iatk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iatk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TM03457485[[fn=Siatka]]</Template>
  <TotalTime>86</TotalTime>
  <Words>534</Words>
  <Application>Microsoft Office PowerPoint</Application>
  <PresentationFormat>Panoramiczny</PresentationFormat>
  <Paragraphs>196</Paragraphs>
  <Slides>13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6" baseType="lpstr">
      <vt:lpstr>Arial</vt:lpstr>
      <vt:lpstr>Century Gothic</vt:lpstr>
      <vt:lpstr>Siatka</vt:lpstr>
      <vt:lpstr>System dekoracji wnętrz z wykorzystaniem technologii wirtualnej rzeczywistości (VR)</vt:lpstr>
      <vt:lpstr>Wstęp – Dekoracja Wnętrz</vt:lpstr>
      <vt:lpstr>Wstęp – Wirtualna rzeczywistość</vt:lpstr>
      <vt:lpstr>Cel pracy</vt:lpstr>
      <vt:lpstr>Generacja Pomieszczenia</vt:lpstr>
      <vt:lpstr>Tablet</vt:lpstr>
      <vt:lpstr>Tworzenie przedmiotów</vt:lpstr>
      <vt:lpstr>Interakcja z przedmiotami</vt:lpstr>
      <vt:lpstr>Zmiana wyglądu i koloru ścian</vt:lpstr>
      <vt:lpstr>Zmiana wyglądu i koloru ścian</vt:lpstr>
      <vt:lpstr>Obiekty stałe</vt:lpstr>
      <vt:lpstr>Dodatkowe ściany</vt:lpstr>
      <vt:lpstr>Wykorzystane technologie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GlitchedGuest Computer</dc:creator>
  <cp:lastModifiedBy>GlitchedGuest Computer</cp:lastModifiedBy>
  <cp:revision>14</cp:revision>
  <dcterms:created xsi:type="dcterms:W3CDTF">2025-11-25T14:03:19Z</dcterms:created>
  <dcterms:modified xsi:type="dcterms:W3CDTF">2025-11-26T10:11:54Z</dcterms:modified>
</cp:coreProperties>
</file>